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284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7" Type="http://schemas.openxmlformats.org/officeDocument/2006/relationships/image" Target="../media/image14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jpg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20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236208"/>
            <a:ext cx="12191695" cy="621792"/>
          </a:xfrm>
          <a:prstGeom prst="rect">
            <a:avLst/>
          </a:prstGeom>
          <a:solidFill>
            <a:srgbClr val="11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566928"/>
            <a:ext cx="219456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>
              <a:defRPr sz="1200" b="1">
                <a:solidFill>
                  <a:srgbClr val="B8EBE3"/>
                </a:solidFill>
                <a:latin typeface="Aptos"/>
              </a:defRPr>
            </a:pPr>
            <a:r>
              <a:rPr>
                <a:latin typeface="Aptos"/>
              </a:rPr>
              <a:t>PROJECT 2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1243584"/>
            <a:ext cx="10744200" cy="1143000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>
              <a:defRPr sz="2900" b="1">
                <a:solidFill>
                  <a:srgbClr val="FFFFFF"/>
                </a:solidFill>
                <a:latin typeface="Aptos Display"/>
              </a:defRPr>
            </a:pPr>
            <a:r>
              <a:rPr>
                <a:latin typeface="Aptos"/>
              </a:rPr>
              <a:t>Nghiên cứu YOLOv8n-P2 cho phát hiện vật thể nhỏ</a:t>
            </a:r>
            <a:br/>
            <a:r>
              <a:rPr>
                <a:latin typeface="Aptos"/>
              </a:rPr>
              <a:t>và triển khai ứng dụng phát hiện phương tiện realtime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88920"/>
            <a:ext cx="9966960" cy="56692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>
              <a:defRPr sz="1700" b="0">
                <a:solidFill>
                  <a:srgbClr val="E0E8F4"/>
                </a:solidFill>
                <a:latin typeface="Aptos"/>
              </a:defRPr>
            </a:pPr>
            <a:r>
              <a:rPr>
                <a:latin typeface="Aptos"/>
              </a:rPr>
              <a:t>Trọng tâm demo: kiến trúc P2 → fine-tuning trên VisDrone → benchmark → ứng dụng Flask realtime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09160"/>
            <a:ext cx="5577840" cy="53035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Aptos"/>
              </a:defRPr>
            </a:pPr>
            <a:r>
              <a:rPr>
                <a:latin typeface="Aptos"/>
              </a:rPr>
              <a:t>GVHD: ThS. Lê Tấn Hùng</a:t>
            </a:r>
            <a:br/>
            <a:r>
              <a:rPr>
                <a:latin typeface="Aptos"/>
              </a:rPr>
              <a:t>Sinh viên thực hiện: Trần Tuấn Minh - 20230051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89720" y="6382512"/>
            <a:ext cx="233172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Aptos"/>
              </a:defRPr>
            </a:pPr>
            <a:r>
              <a:rPr>
                <a:latin typeface="Aptos"/>
              </a:rPr>
              <a:t>Hà Nội, 06/2026</a:t>
            </a:r>
          </a:p>
        </p:txBody>
      </p:sp>
      <p:pic>
        <p:nvPicPr>
          <p:cNvPr id="8" name="Picture 7" descr="yolov8-p2-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4927" y="3676502"/>
            <a:ext cx="4206240" cy="15532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10896"/>
            <a:ext cx="10881360" cy="53035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>
              <a:defRPr sz="3000" b="1">
                <a:solidFill>
                  <a:srgbClr val="152038"/>
                </a:solidFill>
                <a:latin typeface="Aptos Display"/>
              </a:defRPr>
            </a:pPr>
            <a:r>
              <a:rPr>
                <a:latin typeface="Aptos"/>
              </a:rPr>
              <a:t>Flow bảo vệ online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68680"/>
            <a:ext cx="10241280" cy="310896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>
              <a:defRPr sz="1300" b="0">
                <a:solidFill>
                  <a:srgbClr val="5B677C"/>
                </a:solidFill>
                <a:latin typeface="Aptos"/>
              </a:defRPr>
            </a:pPr>
            <a:r>
              <a:rPr>
                <a:latin typeface="Aptos"/>
              </a:rPr>
              <a:t>Dùng slide để dẫn vào demo và chứng minh các quyết định chính, không thuyết trình quá dài.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46520"/>
            <a:ext cx="859536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>
              <a:defRPr sz="850" b="0">
                <a:solidFill>
                  <a:srgbClr val="5B677C"/>
                </a:solidFill>
                <a:latin typeface="Aptos"/>
              </a:defRPr>
            </a:pPr>
            <a:r>
              <a:rPr>
                <a:latin typeface="Aptos"/>
              </a:rPr>
              <a:t>Project 2 · YOLOv8n-P2 · VisDrone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54864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r">
              <a:defRPr sz="850" b="0">
                <a:solidFill>
                  <a:srgbClr val="5B677C"/>
                </a:solidFill>
                <a:latin typeface="Aptos"/>
              </a:defRPr>
            </a:pPr>
            <a:r>
              <a:rPr>
                <a:latin typeface="Aptos"/>
              </a:rPr>
              <a:t>02</a:t>
            </a:r>
          </a:p>
        </p:txBody>
      </p:sp>
      <p:sp>
        <p:nvSpPr>
          <p:cNvPr id="6" name="Oval 5"/>
          <p:cNvSpPr/>
          <p:nvPr/>
        </p:nvSpPr>
        <p:spPr>
          <a:xfrm>
            <a:off x="713232" y="1938528"/>
            <a:ext cx="530352" cy="530352"/>
          </a:xfrm>
          <a:prstGeom prst="ellipse">
            <a:avLst/>
          </a:prstGeom>
          <a:solidFill>
            <a:srgbClr val="11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77824" y="2057400"/>
            <a:ext cx="210312" cy="182880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rPr>
                <a:latin typeface="Aptos"/>
              </a:rPr>
              <a:t>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307592" y="2212848"/>
            <a:ext cx="1371599" cy="0"/>
          </a:xfrm>
          <a:prstGeom prst="line">
            <a:avLst/>
          </a:prstGeom>
          <a:ln w="25400">
            <a:solidFill>
              <a:srgbClr val="DAE1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76072" y="2670048"/>
            <a:ext cx="192024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ctr">
              <a:defRPr sz="1650" b="1">
                <a:solidFill>
                  <a:srgbClr val="152038"/>
                </a:solidFill>
                <a:latin typeface="Aptos"/>
              </a:defRPr>
            </a:pPr>
            <a:r>
              <a:rPr>
                <a:latin typeface="Aptos"/>
              </a:rPr>
              <a:t>Mở vấn đề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3035808"/>
            <a:ext cx="2176272" cy="71323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ctr">
              <a:defRPr sz="1230" b="0">
                <a:solidFill>
                  <a:srgbClr val="5B677C"/>
                </a:solidFill>
                <a:latin typeface="Aptos"/>
              </a:defRPr>
            </a:pPr>
            <a:r>
              <a:rPr>
                <a:latin typeface="Aptos"/>
              </a:rPr>
              <a:t>Ảnh UAV có vật thể nhỏ, đông, dễ bỏ sót</a:t>
            </a:r>
          </a:p>
        </p:txBody>
      </p:sp>
      <p:sp>
        <p:nvSpPr>
          <p:cNvPr id="11" name="Oval 10"/>
          <p:cNvSpPr/>
          <p:nvPr/>
        </p:nvSpPr>
        <p:spPr>
          <a:xfrm>
            <a:off x="2971800" y="1938528"/>
            <a:ext cx="530352" cy="530352"/>
          </a:xfrm>
          <a:prstGeom prst="ellipse">
            <a:avLst/>
          </a:prstGeom>
          <a:solidFill>
            <a:srgbClr val="2D6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136392" y="2057400"/>
            <a:ext cx="210312" cy="182880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rPr>
                <a:latin typeface="Aptos"/>
              </a:rPr>
              <a:t>2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566160" y="2212848"/>
            <a:ext cx="1371600" cy="0"/>
          </a:xfrm>
          <a:prstGeom prst="line">
            <a:avLst/>
          </a:prstGeom>
          <a:ln w="25400">
            <a:solidFill>
              <a:srgbClr val="DAE1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834640" y="2670048"/>
            <a:ext cx="192024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ctr">
              <a:defRPr sz="1650" b="1">
                <a:solidFill>
                  <a:srgbClr val="152038"/>
                </a:solidFill>
                <a:latin typeface="Aptos"/>
              </a:defRPr>
            </a:pPr>
            <a:r>
              <a:rPr>
                <a:latin typeface="Aptos"/>
              </a:rPr>
              <a:t>Ý tưởng P2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80" y="3035808"/>
            <a:ext cx="2176272" cy="71323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ctr">
              <a:defRPr sz="1230" b="0">
                <a:solidFill>
                  <a:srgbClr val="5B677C"/>
                </a:solidFill>
                <a:latin typeface="Aptos"/>
              </a:defRPr>
            </a:pPr>
            <a:r>
              <a:rPr>
                <a:latin typeface="Aptos"/>
              </a:rPr>
              <a:t>Thêm detect head P2/4 cho YOLOv8n</a:t>
            </a:r>
          </a:p>
        </p:txBody>
      </p:sp>
      <p:sp>
        <p:nvSpPr>
          <p:cNvPr id="16" name="Oval 15"/>
          <p:cNvSpPr/>
          <p:nvPr/>
        </p:nvSpPr>
        <p:spPr>
          <a:xfrm>
            <a:off x="5230368" y="1938528"/>
            <a:ext cx="530352" cy="530352"/>
          </a:xfrm>
          <a:prstGeom prst="ellipse">
            <a:avLst/>
          </a:prstGeom>
          <a:solidFill>
            <a:srgbClr val="DE9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394960" y="2057400"/>
            <a:ext cx="210312" cy="182880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rPr>
                <a:latin typeface="Aptos"/>
              </a:rPr>
              <a:t>3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824728" y="2212848"/>
            <a:ext cx="1371600" cy="0"/>
          </a:xfrm>
          <a:prstGeom prst="line">
            <a:avLst/>
          </a:prstGeom>
          <a:ln w="25400">
            <a:solidFill>
              <a:srgbClr val="DAE1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093208" y="2670048"/>
            <a:ext cx="192024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ctr">
              <a:defRPr sz="1650" b="1">
                <a:solidFill>
                  <a:srgbClr val="152038"/>
                </a:solidFill>
                <a:latin typeface="Aptos"/>
              </a:defRPr>
            </a:pPr>
            <a:r>
              <a:rPr>
                <a:latin typeface="Aptos"/>
              </a:rPr>
              <a:t>Thực nghiệm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56048" y="3035808"/>
            <a:ext cx="2176272" cy="71323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ctr">
              <a:defRPr sz="1230" b="0">
                <a:solidFill>
                  <a:srgbClr val="5B677C"/>
                </a:solidFill>
                <a:latin typeface="Aptos"/>
              </a:defRPr>
            </a:pPr>
            <a:r>
              <a:rPr>
                <a:latin typeface="Aptos"/>
              </a:rPr>
              <a:t>Fine-tune và benchmark trên VisDrone</a:t>
            </a:r>
          </a:p>
        </p:txBody>
      </p:sp>
      <p:sp>
        <p:nvSpPr>
          <p:cNvPr id="21" name="Oval 20"/>
          <p:cNvSpPr/>
          <p:nvPr/>
        </p:nvSpPr>
        <p:spPr>
          <a:xfrm>
            <a:off x="7488936" y="1938528"/>
            <a:ext cx="530352" cy="530352"/>
          </a:xfrm>
          <a:prstGeom prst="ellipse">
            <a:avLst/>
          </a:prstGeom>
          <a:solidFill>
            <a:srgbClr val="6F4E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653527" y="2057400"/>
            <a:ext cx="210312" cy="182880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rPr>
                <a:latin typeface="Aptos"/>
              </a:rPr>
              <a:t>4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083296" y="2212848"/>
            <a:ext cx="1371600" cy="0"/>
          </a:xfrm>
          <a:prstGeom prst="line">
            <a:avLst/>
          </a:prstGeom>
          <a:ln w="25400">
            <a:solidFill>
              <a:srgbClr val="DAE1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351775" y="2670048"/>
            <a:ext cx="192024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ctr">
              <a:defRPr sz="1650" b="1">
                <a:solidFill>
                  <a:srgbClr val="152038"/>
                </a:solidFill>
                <a:latin typeface="Aptos"/>
              </a:defRPr>
            </a:pPr>
            <a:r>
              <a:rPr>
                <a:latin typeface="Aptos"/>
              </a:rPr>
              <a:t>Ứng dụng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4616" y="3035808"/>
            <a:ext cx="2176272" cy="71323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ctr">
              <a:defRPr sz="1230" b="0">
                <a:solidFill>
                  <a:srgbClr val="5B677C"/>
                </a:solidFill>
                <a:latin typeface="Aptos"/>
              </a:defRPr>
            </a:pPr>
            <a:r>
              <a:rPr>
                <a:latin typeface="Aptos"/>
              </a:rPr>
              <a:t>Flask realtime: detect, track, density, count</a:t>
            </a:r>
          </a:p>
        </p:txBody>
      </p:sp>
      <p:sp>
        <p:nvSpPr>
          <p:cNvPr id="26" name="Oval 25"/>
          <p:cNvSpPr/>
          <p:nvPr/>
        </p:nvSpPr>
        <p:spPr>
          <a:xfrm>
            <a:off x="9747504" y="1938528"/>
            <a:ext cx="530352" cy="530352"/>
          </a:xfrm>
          <a:prstGeom prst="ellipse">
            <a:avLst/>
          </a:prstGeom>
          <a:solidFill>
            <a:srgbClr val="418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912096" y="2057400"/>
            <a:ext cx="210312" cy="182880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rPr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10344" y="2670048"/>
            <a:ext cx="192024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ctr">
              <a:defRPr sz="1650" b="1">
                <a:solidFill>
                  <a:srgbClr val="152038"/>
                </a:solidFill>
                <a:latin typeface="Aptos"/>
              </a:defRPr>
            </a:pPr>
            <a:r>
              <a:rPr>
                <a:latin typeface="Aptos"/>
              </a:rPr>
              <a:t>Demo live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73184" y="3035808"/>
            <a:ext cx="2176272" cy="71323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ctr">
              <a:defRPr sz="1230" b="0">
                <a:solidFill>
                  <a:srgbClr val="5B677C"/>
                </a:solidFill>
                <a:latin typeface="Aptos"/>
              </a:defRPr>
            </a:pPr>
            <a:r>
              <a:rPr>
                <a:latin typeface="Aptos"/>
              </a:rPr>
              <a:t>Load video → bật chức năng → xem/log/export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4892040"/>
            <a:ext cx="1028700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14400" y="4892040"/>
            <a:ext cx="73152" cy="713232"/>
          </a:xfrm>
          <a:prstGeom prst="rect">
            <a:avLst/>
          </a:prstGeom>
          <a:solidFill>
            <a:srgbClr val="11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115568" y="5001768"/>
            <a:ext cx="995781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152038"/>
                </a:solidFill>
                <a:latin typeface="Aptos"/>
              </a:defRPr>
            </a:pPr>
            <a:r>
              <a:rPr>
                <a:latin typeface="Aptos"/>
              </a:rPr>
              <a:t>Mục tiêu demo</a:t>
            </a:r>
          </a:p>
          <a:p>
            <a:pPr>
              <a:defRPr sz="1250">
                <a:latin typeface="Aptos"/>
              </a:defRPr>
            </a:pPr>
            <a:r>
              <a:rPr>
                <a:latin typeface="Aptos"/>
              </a:rPr>
              <a:t>Chứng minh YOLOv8n-P2 đi từ nghiên cứu kiến trúc, fine-tuning, benchmark đến một ứng dụng realtime chạy được.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10896"/>
            <a:ext cx="10881360" cy="53035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>
              <a:defRPr sz="3000" b="1">
                <a:solidFill>
                  <a:srgbClr val="152038"/>
                </a:solidFill>
                <a:latin typeface="Aptos Display"/>
              </a:defRPr>
            </a:pPr>
            <a:r>
              <a:rPr>
                <a:latin typeface="Aptos"/>
              </a:rPr>
              <a:t>Bài toán và mục tiêu đề tài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68680"/>
            <a:ext cx="10241280" cy="310896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>
              <a:defRPr sz="1300" b="0">
                <a:solidFill>
                  <a:srgbClr val="5B677C"/>
                </a:solidFill>
                <a:latin typeface="Aptos"/>
              </a:defRPr>
            </a:pPr>
            <a:r>
              <a:rPr>
                <a:latin typeface="Aptos"/>
              </a:rPr>
              <a:t>Từ nghiên cứu kiến trúc đến một workflow ứng dụng chạy được trong repo.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46520"/>
            <a:ext cx="859536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>
              <a:defRPr sz="850" b="0">
                <a:solidFill>
                  <a:srgbClr val="5B677C"/>
                </a:solidFill>
                <a:latin typeface="Aptos"/>
              </a:defRPr>
            </a:pPr>
            <a:r>
              <a:rPr>
                <a:latin typeface="Aptos"/>
              </a:rPr>
              <a:t>Project 2 · YOLOv8n-P2 · VisDrone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54864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r">
              <a:defRPr sz="850" b="0">
                <a:solidFill>
                  <a:srgbClr val="5B677C"/>
                </a:solidFill>
                <a:latin typeface="Aptos"/>
              </a:defRPr>
            </a:pPr>
            <a:r>
              <a:rPr>
                <a:latin typeface="Apto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52044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73152" cy="1920240"/>
          </a:xfrm>
          <a:prstGeom prst="rect">
            <a:avLst/>
          </a:prstGeom>
          <a:solidFill>
            <a:srgbClr val="BA3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1527048"/>
            <a:ext cx="3191256" cy="177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52038"/>
                </a:solidFill>
                <a:latin typeface="Aptos"/>
              </a:defRPr>
            </a:pPr>
            <a:r>
              <a:rPr>
                <a:latin typeface="Aptos"/>
              </a:rPr>
              <a:t>Bối cảnh</a:t>
            </a:r>
          </a:p>
          <a:p>
            <a:pPr>
              <a:spcBef>
                <a:spcPts val="400"/>
              </a:spcBef>
              <a:defRPr sz="1150">
                <a:solidFill>
                  <a:srgbClr val="5B677C"/>
                </a:solidFill>
                <a:latin typeface="Aptos"/>
              </a:defRPr>
            </a:pPr>
            <a:r>
              <a:rPr>
                <a:latin typeface="Aptos"/>
              </a:rPr>
              <a:t>Video/ảnh UAV có nhiều người và phương tiện rất nhỏ; detector nhẹ dễ bỏ sót khi feature map bị downsample sâu.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417320"/>
            <a:ext cx="352044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43400" y="1417320"/>
            <a:ext cx="73152" cy="1920240"/>
          </a:xfrm>
          <a:prstGeom prst="rect">
            <a:avLst/>
          </a:prstGeom>
          <a:solidFill>
            <a:srgbClr val="2D6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44568" y="1527048"/>
            <a:ext cx="3191256" cy="177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52038"/>
                </a:solidFill>
                <a:latin typeface="Aptos"/>
              </a:defRPr>
            </a:pPr>
            <a:r>
              <a:rPr>
                <a:latin typeface="Aptos"/>
              </a:rPr>
              <a:t>Giả thuyết</a:t>
            </a:r>
          </a:p>
          <a:p>
            <a:pPr>
              <a:spcBef>
                <a:spcPts val="400"/>
              </a:spcBef>
              <a:defRPr sz="1150">
                <a:solidFill>
                  <a:srgbClr val="5B677C"/>
                </a:solidFill>
                <a:latin typeface="Aptos"/>
              </a:defRPr>
            </a:pPr>
            <a:r>
              <a:rPr>
                <a:latin typeface="Aptos"/>
              </a:rPr>
              <a:t>Thêm head P2 giúp mô hình có thêm điểm dự đoán trên feature map độ phân giải cao, phù hợp small object.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417320"/>
            <a:ext cx="352044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46720" y="1417320"/>
            <a:ext cx="73152" cy="1920240"/>
          </a:xfrm>
          <a:prstGeom prst="rect">
            <a:avLst/>
          </a:prstGeom>
          <a:solidFill>
            <a:srgbClr val="418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47888" y="1527048"/>
            <a:ext cx="3191256" cy="177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52038"/>
                </a:solidFill>
                <a:latin typeface="Aptos"/>
              </a:defRPr>
            </a:pPr>
            <a:r>
              <a:rPr>
                <a:latin typeface="Aptos"/>
              </a:rPr>
              <a:t>Đầu ra</a:t>
            </a:r>
          </a:p>
          <a:p>
            <a:pPr>
              <a:spcBef>
                <a:spcPts val="400"/>
              </a:spcBef>
              <a:defRPr sz="1150">
                <a:solidFill>
                  <a:srgbClr val="5B677C"/>
                </a:solidFill>
                <a:latin typeface="Aptos"/>
              </a:defRPr>
            </a:pPr>
            <a:r>
              <a:rPr>
                <a:latin typeface="Aptos"/>
              </a:rPr>
              <a:t>Checkpoint YOLOv8n-P2, benchmark so sánh 3 mô hình và app realtime có tracking/density/count/log/export.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968496"/>
            <a:ext cx="2194560" cy="237744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>
              <a:defRPr sz="1400" b="1">
                <a:solidFill>
                  <a:srgbClr val="152038"/>
                </a:solidFill>
                <a:latin typeface="Aptos"/>
              </a:defRPr>
            </a:pPr>
            <a:r>
              <a:rPr>
                <a:latin typeface="Aptos"/>
              </a:rPr>
              <a:t>Phạm vi mô hình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343400"/>
            <a:ext cx="324612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141B28"/>
                </a:solidFill>
                <a:latin typeface="Aptos"/>
              </a:defRPr>
            </a:pPr>
            <a:r>
              <a:rPr>
                <a:latin typeface="Aptos"/>
              </a:rPr>
              <a:t>• YOLOv8n: baseline nhẹ</a:t>
            </a:r>
          </a:p>
          <a:p>
            <a:pPr>
              <a:spcAft>
                <a:spcPts val="300"/>
              </a:spcAft>
              <a:defRPr sz="1300">
                <a:solidFill>
                  <a:srgbClr val="141B28"/>
                </a:solidFill>
                <a:latin typeface="Aptos"/>
              </a:defRPr>
            </a:pPr>
            <a:r>
              <a:rPr>
                <a:latin typeface="Aptos"/>
              </a:rPr>
              <a:t>• YOLOv8n-P2: mô hình nghiên cứu chính</a:t>
            </a:r>
          </a:p>
          <a:p>
            <a:pPr>
              <a:spcAft>
                <a:spcPts val="300"/>
              </a:spcAft>
              <a:defRPr sz="1300">
                <a:solidFill>
                  <a:srgbClr val="141B28"/>
                </a:solidFill>
                <a:latin typeface="Aptos"/>
              </a:defRPr>
            </a:pPr>
            <a:r>
              <a:rPr>
                <a:latin typeface="Aptos"/>
              </a:rPr>
              <a:t>• YOLOv8s: mốc accuracy lớn hơn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3968496"/>
            <a:ext cx="2194560" cy="237744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>
              <a:defRPr sz="1400" b="1">
                <a:solidFill>
                  <a:srgbClr val="152038"/>
                </a:solidFill>
                <a:latin typeface="Aptos"/>
              </a:defRPr>
            </a:pPr>
            <a:r>
              <a:rPr>
                <a:latin typeface="Aptos"/>
              </a:rPr>
              <a:t>Dataset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7992" y="4343400"/>
            <a:ext cx="324612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141B28"/>
                </a:solidFill>
                <a:latin typeface="Aptos"/>
              </a:defRPr>
            </a:pPr>
            <a:r>
              <a:rPr>
                <a:latin typeface="Aptos"/>
              </a:rPr>
              <a:t>• VisDrone detection, 10 lớp</a:t>
            </a:r>
          </a:p>
          <a:p>
            <a:pPr>
              <a:spcAft>
                <a:spcPts val="300"/>
              </a:spcAft>
              <a:defRPr sz="1300">
                <a:solidFill>
                  <a:srgbClr val="141B28"/>
                </a:solidFill>
                <a:latin typeface="Aptos"/>
              </a:defRPr>
            </a:pPr>
            <a:r>
              <a:rPr>
                <a:latin typeface="Aptos"/>
              </a:rPr>
              <a:t>• Train: 6471 ảnh; val: 548 ảnh</a:t>
            </a:r>
          </a:p>
          <a:p>
            <a:pPr>
              <a:spcAft>
                <a:spcPts val="300"/>
              </a:spcAft>
              <a:defRPr sz="1300">
                <a:solidFill>
                  <a:srgbClr val="141B28"/>
                </a:solidFill>
                <a:latin typeface="Aptos"/>
              </a:defRPr>
            </a:pPr>
            <a:r>
              <a:rPr>
                <a:latin typeface="Aptos"/>
              </a:rPr>
              <a:t>• Nhiều vật thể nhỏ, mật độ cao, lệch lớp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19872" y="3968496"/>
            <a:ext cx="2194560" cy="237744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>
              <a:defRPr sz="1400" b="1">
                <a:solidFill>
                  <a:srgbClr val="152038"/>
                </a:solidFill>
                <a:latin typeface="Aptos"/>
              </a:defRPr>
            </a:pPr>
            <a:r>
              <a:rPr>
                <a:latin typeface="Aptos"/>
              </a:rPr>
              <a:t>Câu hỏi demo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3024" y="4343400"/>
            <a:ext cx="324612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141B28"/>
                </a:solidFill>
                <a:latin typeface="Aptos"/>
              </a:defRPr>
            </a:pPr>
            <a:r>
              <a:rPr>
                <a:latin typeface="Aptos"/>
              </a:rPr>
              <a:t>• P2 cải thiện được gì?</a:t>
            </a:r>
          </a:p>
          <a:p>
            <a:pPr>
              <a:spcAft>
                <a:spcPts val="300"/>
              </a:spcAft>
              <a:defRPr sz="1300">
                <a:solidFill>
                  <a:srgbClr val="141B28"/>
                </a:solidFill>
                <a:latin typeface="Aptos"/>
              </a:defRPr>
            </a:pPr>
            <a:r>
              <a:rPr>
                <a:latin typeface="Aptos"/>
              </a:rPr>
              <a:t>• Đánh đổi tốc độ ra sao?</a:t>
            </a:r>
          </a:p>
          <a:p>
            <a:pPr>
              <a:spcAft>
                <a:spcPts val="300"/>
              </a:spcAft>
              <a:defRPr sz="1300">
                <a:solidFill>
                  <a:srgbClr val="141B28"/>
                </a:solidFill>
                <a:latin typeface="Aptos"/>
              </a:defRPr>
            </a:pPr>
            <a:r>
              <a:rPr>
                <a:latin typeface="Aptos"/>
              </a:rPr>
              <a:t>• Mô hình đã được triển khai thế nào?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10896"/>
            <a:ext cx="10881360" cy="53035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>
              <a:defRPr sz="3000" b="1">
                <a:solidFill>
                  <a:srgbClr val="152038"/>
                </a:solidFill>
                <a:latin typeface="Aptos Display"/>
              </a:defRPr>
            </a:pPr>
            <a:r>
              <a:rPr>
                <a:latin typeface="Aptos"/>
              </a:rPr>
              <a:t>YOLOv8n-P2 thay đổi gì?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68680"/>
            <a:ext cx="10241280" cy="310896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>
              <a:defRPr sz="1300" b="0">
                <a:solidFill>
                  <a:srgbClr val="5B677C"/>
                </a:solidFill>
                <a:latin typeface="Aptos"/>
              </a:defRPr>
            </a:pPr>
            <a:r>
              <a:rPr>
                <a:latin typeface="Aptos"/>
              </a:rPr>
              <a:t>Bổ sung nhánh phát hiện ở mức P2/4, rồi Detect trên P2, P3, P4, P5.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46520"/>
            <a:ext cx="859536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>
              <a:defRPr sz="850" b="0">
                <a:solidFill>
                  <a:srgbClr val="5B677C"/>
                </a:solidFill>
                <a:latin typeface="Aptos"/>
              </a:defRPr>
            </a:pPr>
            <a:r>
              <a:rPr>
                <a:latin typeface="Aptos"/>
              </a:rPr>
              <a:t>Project 2 · YOLOv8n-P2 · VisDrone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54864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r">
              <a:defRPr sz="850" b="0">
                <a:solidFill>
                  <a:srgbClr val="5B677C"/>
                </a:solidFill>
                <a:latin typeface="Aptos"/>
              </a:defRPr>
            </a:pPr>
            <a:r>
              <a:rPr>
                <a:latin typeface="Aptos"/>
              </a:rPr>
              <a:t>04</a:t>
            </a:r>
          </a:p>
        </p:txBody>
      </p:sp>
      <p:pic>
        <p:nvPicPr>
          <p:cNvPr id="6" name="Picture 5" descr="yolov8-p2-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520" y="2037197"/>
            <a:ext cx="7315200" cy="2701309"/>
          </a:xfrm>
          <a:prstGeom prst="rect">
            <a:avLst/>
          </a:prstGeom>
          <a:ln w="9525">
            <a:solidFill>
              <a:srgbClr val="DAE1EC"/>
            </a:solidFill>
          </a:ln>
        </p:spPr>
      </p:pic>
      <p:sp>
        <p:nvSpPr>
          <p:cNvPr id="7" name="Rounded Rectangle 6"/>
          <p:cNvSpPr/>
          <p:nvPr/>
        </p:nvSpPr>
        <p:spPr>
          <a:xfrm>
            <a:off x="658368" y="1307592"/>
            <a:ext cx="315468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1307592"/>
            <a:ext cx="73152" cy="1005840"/>
          </a:xfrm>
          <a:prstGeom prst="rect">
            <a:avLst/>
          </a:prstGeom>
          <a:solidFill>
            <a:srgbClr val="5B6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9536" y="1417319"/>
            <a:ext cx="2825496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52038"/>
                </a:solidFill>
                <a:latin typeface="Aptos"/>
              </a:defRPr>
            </a:pPr>
            <a:r>
              <a:rPr>
                <a:latin typeface="Aptos"/>
              </a:rPr>
              <a:t>Từ YOLOv8 gốc</a:t>
            </a:r>
          </a:p>
          <a:p>
            <a:pPr>
              <a:spcBef>
                <a:spcPts val="400"/>
              </a:spcBef>
              <a:defRPr sz="1150">
                <a:solidFill>
                  <a:srgbClr val="5B677C"/>
                </a:solidFill>
                <a:latin typeface="Aptos"/>
              </a:defRPr>
            </a:pPr>
            <a:r>
              <a:rPr>
                <a:latin typeface="Aptos"/>
              </a:rPr>
              <a:t>Detect thường dùng P3/P4/P5; vật thể nhỏ có thể bị biểu diễn quá thô.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578608"/>
            <a:ext cx="315468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58368" y="2578608"/>
            <a:ext cx="73152" cy="1005840"/>
          </a:xfrm>
          <a:prstGeom prst="rect">
            <a:avLst/>
          </a:prstGeom>
          <a:solidFill>
            <a:srgbClr val="2D6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9536" y="2688336"/>
            <a:ext cx="2825496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52038"/>
                </a:solidFill>
                <a:latin typeface="Aptos"/>
              </a:defRPr>
            </a:pPr>
            <a:r>
              <a:rPr>
                <a:latin typeface="Aptos"/>
              </a:rPr>
              <a:t>Thêm P2/4</a:t>
            </a:r>
          </a:p>
          <a:p>
            <a:pPr>
              <a:spcBef>
                <a:spcPts val="400"/>
              </a:spcBef>
              <a:defRPr sz="1150">
                <a:solidFill>
                  <a:srgbClr val="5B677C"/>
                </a:solidFill>
                <a:latin typeface="Aptos"/>
              </a:defRPr>
            </a:pPr>
            <a:r>
              <a:rPr>
                <a:latin typeface="Aptos"/>
              </a:rPr>
              <a:t>Feature map 160×160 giữ nhiều chi tiết vị trí hơn cho ảnh 640×640.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858768"/>
            <a:ext cx="3154680" cy="11338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58368" y="3858768"/>
            <a:ext cx="73152" cy="1133856"/>
          </a:xfrm>
          <a:prstGeom prst="rect">
            <a:avLst/>
          </a:prstGeom>
          <a:solidFill>
            <a:srgbClr val="11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9536" y="3968496"/>
            <a:ext cx="2825496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52038"/>
                </a:solidFill>
                <a:latin typeface="Aptos"/>
              </a:defRPr>
            </a:pPr>
            <a:r>
              <a:rPr>
                <a:latin typeface="Aptos"/>
              </a:rPr>
              <a:t>Ý nghĩa</a:t>
            </a:r>
          </a:p>
          <a:p>
            <a:pPr>
              <a:spcBef>
                <a:spcPts val="400"/>
              </a:spcBef>
              <a:defRPr sz="1150">
                <a:solidFill>
                  <a:srgbClr val="5B677C"/>
                </a:solidFill>
                <a:latin typeface="Aptos"/>
              </a:defRPr>
            </a:pPr>
            <a:r>
              <a:rPr>
                <a:latin typeface="Aptos"/>
              </a:rPr>
              <a:t>Tăng cơ hội bắt pedestrian, people, bicycle, motor trong ảnh UAV đông đối tượng.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15968" y="5687568"/>
            <a:ext cx="690372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>
              <a:defRPr sz="1250" b="0">
                <a:solidFill>
                  <a:srgbClr val="5B677C"/>
                </a:solidFill>
                <a:latin typeface="Aptos"/>
              </a:defRPr>
            </a:pPr>
            <a:r>
              <a:rPr>
                <a:latin typeface="Aptos"/>
              </a:rPr>
              <a:t>P2 phù hợp với VisDrone vì dataset có nhiều vật thể nhỏ, nhưng cần đánh giá cùng chi phí suy luận.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10896"/>
            <a:ext cx="10881360" cy="53035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>
              <a:defRPr sz="3000" b="1">
                <a:solidFill>
                  <a:srgbClr val="152038"/>
                </a:solidFill>
                <a:latin typeface="Aptos Display"/>
              </a:defRPr>
            </a:pPr>
            <a:r>
              <a:rPr>
                <a:latin typeface="Aptos"/>
              </a:rPr>
              <a:t>Cấu hình YOLOv8n-P2 trong repo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68680"/>
            <a:ext cx="10241280" cy="310896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>
              <a:defRPr sz="1300" b="0">
                <a:solidFill>
                  <a:srgbClr val="5B677C"/>
                </a:solidFill>
                <a:latin typeface="Aptos"/>
              </a:defRPr>
            </a:pPr>
            <a:r>
              <a:rPr>
                <a:latin typeface="Aptos"/>
              </a:rPr>
              <a:t>Phần kiến trúc được định nghĩa bằng YAML, bám theo workflow Ultralytics.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46520"/>
            <a:ext cx="859536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>
              <a:defRPr sz="850" b="0">
                <a:solidFill>
                  <a:srgbClr val="5B677C"/>
                </a:solidFill>
                <a:latin typeface="Aptos"/>
              </a:defRPr>
            </a:pPr>
            <a:r>
              <a:rPr>
                <a:latin typeface="Aptos"/>
              </a:rPr>
              <a:t>Project 2 · YOLOv8n-P2 · VisDrone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54864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r">
              <a:defRPr sz="850" b="0">
                <a:solidFill>
                  <a:srgbClr val="5B677C"/>
                </a:solidFill>
                <a:latin typeface="Aptos"/>
              </a:defRPr>
            </a:pPr>
            <a:r>
              <a:rPr>
                <a:latin typeface="Apto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98448"/>
            <a:ext cx="329184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152" cy="1078992"/>
          </a:xfrm>
          <a:prstGeom prst="rect">
            <a:avLst/>
          </a:prstGeom>
          <a:solidFill>
            <a:srgbClr val="2D6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1408176"/>
            <a:ext cx="2962656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52038"/>
                </a:solidFill>
                <a:latin typeface="Aptos"/>
              </a:defRPr>
            </a:pPr>
            <a:r>
              <a:rPr>
                <a:latin typeface="Aptos"/>
              </a:rPr>
              <a:t>File chính</a:t>
            </a:r>
          </a:p>
          <a:p>
            <a:pPr>
              <a:spcBef>
                <a:spcPts val="400"/>
              </a:spcBef>
              <a:defRPr sz="1150">
                <a:solidFill>
                  <a:srgbClr val="5B677C"/>
                </a:solidFill>
                <a:latin typeface="Aptos"/>
              </a:defRPr>
            </a:pPr>
            <a:r>
              <a:rPr>
                <a:latin typeface="Aptos"/>
              </a:rPr>
              <a:t>configs/models/yolov8n-p2.yaml</a:t>
            </a:r>
            <a:br/>
            <a:r>
              <a:rPr>
                <a:latin typeface="Aptos"/>
              </a:rPr>
              <a:t>Detect: [18, 21, 24, 27] → P2/P3/P4/P5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651760"/>
            <a:ext cx="329184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2651760"/>
            <a:ext cx="73152" cy="1078992"/>
          </a:xfrm>
          <a:prstGeom prst="rect">
            <a:avLst/>
          </a:prstGeom>
          <a:solidFill>
            <a:srgbClr val="11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7" y="2761488"/>
            <a:ext cx="2962656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52038"/>
                </a:solidFill>
                <a:latin typeface="Aptos"/>
              </a:defRPr>
            </a:pPr>
            <a:r>
              <a:rPr>
                <a:latin typeface="Aptos"/>
              </a:rPr>
              <a:t>Scale nano</a:t>
            </a:r>
          </a:p>
          <a:p>
            <a:pPr>
              <a:spcBef>
                <a:spcPts val="400"/>
              </a:spcBef>
              <a:defRPr sz="1150">
                <a:solidFill>
                  <a:srgbClr val="5B677C"/>
                </a:solidFill>
                <a:latin typeface="Aptos"/>
              </a:defRPr>
            </a:pPr>
            <a:r>
              <a:rPr>
                <a:latin typeface="Aptos"/>
              </a:rPr>
              <a:t>nc=10, scale=n, giữ mô hình nhỏ để so với YOLOv8n công bằng hơn.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005072"/>
            <a:ext cx="329184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" y="4005072"/>
            <a:ext cx="73152" cy="1078992"/>
          </a:xfrm>
          <a:prstGeom prst="rect">
            <a:avLst/>
          </a:prstGeom>
          <a:solidFill>
            <a:srgbClr val="418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1247" y="4114800"/>
            <a:ext cx="2962656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52038"/>
                </a:solidFill>
                <a:latin typeface="Aptos"/>
              </a:defRPr>
            </a:pPr>
            <a:r>
              <a:rPr>
                <a:latin typeface="Aptos"/>
              </a:rPr>
              <a:t>Checkpoint</a:t>
            </a:r>
          </a:p>
          <a:p>
            <a:pPr>
              <a:spcBef>
                <a:spcPts val="400"/>
              </a:spcBef>
              <a:defRPr sz="1150">
                <a:solidFill>
                  <a:srgbClr val="5B677C"/>
                </a:solidFill>
                <a:latin typeface="Aptos"/>
              </a:defRPr>
            </a:pPr>
            <a:r>
              <a:rPr>
                <a:latin typeface="Aptos"/>
              </a:rPr>
              <a:t>models/VisDrone/yolov8n-p2/best.pt được dùng cho benchmark và realtime app.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353312"/>
            <a:ext cx="6995160" cy="3703320"/>
          </a:xfrm>
          <a:prstGeom prst="roundRect">
            <a:avLst>
              <a:gd name="adj" fmla="val 6000"/>
            </a:avLst>
          </a:prstGeom>
          <a:solidFill>
            <a:srgbClr val="1E2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45152" y="1627632"/>
            <a:ext cx="6400800" cy="3108960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>
              <a:defRPr sz="1800" b="0">
                <a:solidFill>
                  <a:srgbClr val="EBEFF8"/>
                </a:solidFill>
                <a:latin typeface="Consolas"/>
              </a:defRPr>
            </a:pPr>
            <a:r>
              <a:rPr>
                <a:latin typeface="Aptos"/>
              </a:rPr>
              <a:t>backbone: Conv → C2f → SPPF</a:t>
            </a:r>
            <a:br/>
            <a:r>
              <a:rPr>
                <a:latin typeface="Aptos"/>
              </a:rPr>
              <a:t>head:</a:t>
            </a:r>
            <a:br/>
            <a:r>
              <a:rPr>
                <a:latin typeface="Aptos"/>
              </a:rPr>
              <a:t>  Upsample + Concat(P4/P3/P2)</a:t>
            </a:r>
            <a:br/>
            <a:r>
              <a:rPr>
                <a:latin typeface="Aptos"/>
              </a:rPr>
              <a:t>  C2f tạo đặc trưng P2</a:t>
            </a:r>
            <a:br/>
            <a:r>
              <a:rPr>
                <a:latin typeface="Aptos"/>
              </a:rPr>
              <a:t>  Downsample ghép lại P3/P4/P5</a:t>
            </a:r>
            <a:br/>
            <a:r>
              <a:rPr>
                <a:latin typeface="Aptos"/>
              </a:rPr>
              <a:t>  Detect(P2, P3, P4, P5)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5285232"/>
            <a:ext cx="672084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>
              <a:defRPr sz="1250" b="1">
                <a:solidFill>
                  <a:srgbClr val="5B677C"/>
                </a:solidFill>
                <a:latin typeface="Aptos"/>
              </a:defRPr>
            </a:pPr>
            <a:r>
              <a:rPr>
                <a:latin typeface="Aptos"/>
              </a:rPr>
              <a:t>Tính tái lập</a:t>
            </a:r>
          </a:p>
          <a:p>
            <a:pPr>
              <a:defRPr sz="1250">
                <a:latin typeface="Aptos"/>
              </a:defRPr>
            </a:pPr>
            <a:r>
              <a:rPr>
                <a:latin typeface="Aptos"/>
              </a:rPr>
              <a:t>Thay đổi nằm trong YAML, nên vẫn dùng được workflow train/val/predict chuẩn của Ultralytics.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10896"/>
            <a:ext cx="10881360" cy="53035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>
              <a:defRPr sz="3000" b="1">
                <a:solidFill>
                  <a:srgbClr val="152038"/>
                </a:solidFill>
                <a:latin typeface="Aptos Display"/>
              </a:defRPr>
            </a:pPr>
            <a:r>
              <a:rPr>
                <a:latin typeface="Aptos"/>
              </a:rPr>
              <a:t>Transfer learning và fine-tuning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68680"/>
            <a:ext cx="10241280" cy="310896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>
              <a:defRPr sz="1300" b="0">
                <a:solidFill>
                  <a:srgbClr val="5B677C"/>
                </a:solidFill>
                <a:latin typeface="Aptos"/>
              </a:defRPr>
            </a:pPr>
            <a:r>
              <a:rPr>
                <a:latin typeface="Aptos"/>
              </a:rPr>
              <a:t>Không train from scratch; nạp chọn lọc trọng số YOLOv8n rồi fine-tune toàn bộ trên VisDrone.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46520"/>
            <a:ext cx="859536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>
              <a:defRPr sz="850" b="0">
                <a:solidFill>
                  <a:srgbClr val="5B677C"/>
                </a:solidFill>
                <a:latin typeface="Aptos"/>
              </a:defRPr>
            </a:pPr>
            <a:r>
              <a:rPr>
                <a:latin typeface="Aptos"/>
              </a:rPr>
              <a:t>Project 2 · YOLOv8n-P2 · VisDrone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54864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r">
              <a:defRPr sz="850" b="0">
                <a:solidFill>
                  <a:srgbClr val="5B677C"/>
                </a:solidFill>
                <a:latin typeface="Aptos"/>
              </a:defRPr>
            </a:pPr>
            <a:r>
              <a:rPr>
                <a:latin typeface="Apto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182880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344168"/>
            <a:ext cx="155448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>
              <a:defRPr sz="950" b="1">
                <a:solidFill>
                  <a:srgbClr val="5B677C"/>
                </a:solidFill>
                <a:latin typeface="Aptos"/>
              </a:defRPr>
            </a:pPr>
            <a:r>
              <a:rPr>
                <a:latin typeface="Aptos"/>
              </a:rPr>
              <a:t>Pretrained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09344"/>
            <a:ext cx="1554480" cy="310896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>
              <a:defRPr sz="1800" b="1">
                <a:solidFill>
                  <a:srgbClr val="2D66D6"/>
                </a:solidFill>
                <a:latin typeface="Aptos"/>
              </a:defRPr>
            </a:pPr>
            <a:r>
              <a:rPr>
                <a:latin typeface="Aptos"/>
              </a:rPr>
              <a:t>yolov8n.pt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65960"/>
            <a:ext cx="155448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>
              <a:defRPr sz="919" b="0">
                <a:solidFill>
                  <a:srgbClr val="5B677C"/>
                </a:solidFill>
                <a:latin typeface="Aptos"/>
              </a:defRPr>
            </a:pPr>
            <a:r>
              <a:rPr>
                <a:latin typeface="Aptos"/>
              </a:rPr>
              <a:t>Nguồn trọng số ban đầu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88920" y="1234440"/>
            <a:ext cx="182880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26079" y="1344168"/>
            <a:ext cx="155448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>
              <a:defRPr sz="950" b="1">
                <a:solidFill>
                  <a:srgbClr val="5B677C"/>
                </a:solidFill>
                <a:latin typeface="Aptos"/>
              </a:defRPr>
            </a:pPr>
            <a:r>
              <a:rPr>
                <a:latin typeface="Aptos"/>
              </a:rPr>
              <a:t>Transferred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79" y="1609344"/>
            <a:ext cx="1554480" cy="310896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>
              <a:defRPr sz="1800" b="1">
                <a:solidFill>
                  <a:srgbClr val="119184"/>
                </a:solidFill>
                <a:latin typeface="Aptos"/>
              </a:defRPr>
            </a:pPr>
            <a:r>
              <a:rPr>
                <a:latin typeface="Aptos"/>
              </a:rPr>
              <a:t>219 / 437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79" y="1965960"/>
            <a:ext cx="155448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>
              <a:defRPr sz="919" b="0">
                <a:solidFill>
                  <a:srgbClr val="5B677C"/>
                </a:solidFill>
                <a:latin typeface="Aptos"/>
              </a:defRPr>
            </a:pPr>
            <a:r>
              <a:rPr>
                <a:latin typeface="Aptos"/>
              </a:rPr>
              <a:t>Tensor khớp key và shape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92040" y="1234440"/>
            <a:ext cx="182880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0" y="1344168"/>
            <a:ext cx="155448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>
              <a:defRPr sz="950" b="1">
                <a:solidFill>
                  <a:srgbClr val="5B677C"/>
                </a:solidFill>
                <a:latin typeface="Aptos"/>
              </a:defRPr>
            </a:pPr>
            <a:r>
              <a:rPr>
                <a:latin typeface="Aptos"/>
              </a:rPr>
              <a:t>Epochs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1609344"/>
            <a:ext cx="1554480" cy="310896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>
              <a:defRPr sz="1800" b="1">
                <a:solidFill>
                  <a:srgbClr val="DE942A"/>
                </a:solidFill>
                <a:latin typeface="Aptos"/>
              </a:defRPr>
            </a:pPr>
            <a:r>
              <a:rPr>
                <a:latin typeface="Aptos"/>
              </a:rPr>
              <a:t>100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1965960"/>
            <a:ext cx="155448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>
              <a:defRPr sz="919" b="0">
                <a:solidFill>
                  <a:srgbClr val="5B677C"/>
                </a:solidFill>
                <a:latin typeface="Aptos"/>
              </a:defRPr>
            </a:pPr>
            <a:r>
              <a:rPr>
                <a:latin typeface="Aptos"/>
              </a:rPr>
              <a:t>Fine-tune toàn bộ model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95160" y="1234440"/>
            <a:ext cx="182880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132320" y="1344168"/>
            <a:ext cx="155448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>
              <a:defRPr sz="950" b="1">
                <a:solidFill>
                  <a:srgbClr val="5B677C"/>
                </a:solidFill>
                <a:latin typeface="Aptos"/>
              </a:defRPr>
            </a:pPr>
            <a:r>
              <a:rPr>
                <a:latin typeface="Aptos"/>
              </a:rPr>
              <a:t>Image size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1609344"/>
            <a:ext cx="1554480" cy="310896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>
              <a:defRPr sz="1800" b="1">
                <a:solidFill>
                  <a:srgbClr val="6F4EAB"/>
                </a:solidFill>
                <a:latin typeface="Aptos"/>
              </a:defRPr>
            </a:pPr>
            <a:r>
              <a:rPr>
                <a:latin typeface="Aptos"/>
              </a:rPr>
              <a:t>640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1965960"/>
            <a:ext cx="155448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>
              <a:defRPr sz="919" b="0">
                <a:solidFill>
                  <a:srgbClr val="5B677C"/>
                </a:solidFill>
                <a:latin typeface="Aptos"/>
              </a:defRPr>
            </a:pPr>
            <a:r>
              <a:rPr>
                <a:latin typeface="Aptos"/>
              </a:rPr>
              <a:t>Train/val/test cùng kích thước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98280" y="1234440"/>
            <a:ext cx="182880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35440" y="1344168"/>
            <a:ext cx="155448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>
              <a:defRPr sz="950" b="1">
                <a:solidFill>
                  <a:srgbClr val="5B677C"/>
                </a:solidFill>
                <a:latin typeface="Aptos"/>
              </a:defRPr>
            </a:pPr>
            <a:r>
              <a:rPr>
                <a:latin typeface="Aptos"/>
              </a:rPr>
              <a:t>Kaggle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1609344"/>
            <a:ext cx="1554480" cy="310896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>
              <a:defRPr sz="1800" b="1">
                <a:solidFill>
                  <a:srgbClr val="418F54"/>
                </a:solidFill>
                <a:latin typeface="Aptos"/>
              </a:defRPr>
            </a:pPr>
            <a:r>
              <a:rPr>
                <a:latin typeface="Aptos"/>
              </a:rPr>
              <a:t>T4 x2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1965960"/>
            <a:ext cx="155448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>
              <a:defRPr sz="919" b="0">
                <a:solidFill>
                  <a:srgbClr val="5B677C"/>
                </a:solidFill>
                <a:latin typeface="Aptos"/>
              </a:defRPr>
            </a:pPr>
            <a:r>
              <a:rPr>
                <a:latin typeface="Aptos"/>
              </a:rPr>
              <a:t>Train; test dùng device=0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2788920"/>
            <a:ext cx="333756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13232" y="2788920"/>
            <a:ext cx="73152" cy="2011680"/>
          </a:xfrm>
          <a:prstGeom prst="rect">
            <a:avLst/>
          </a:prstGeom>
          <a:solidFill>
            <a:srgbClr val="2D6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4400" y="2898648"/>
            <a:ext cx="3008376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52038"/>
                </a:solidFill>
                <a:latin typeface="Aptos"/>
              </a:defRPr>
            </a:pPr>
            <a:r>
              <a:rPr>
                <a:latin typeface="Aptos"/>
              </a:rPr>
              <a:t>Tại sao transfer?</a:t>
            </a:r>
          </a:p>
          <a:p>
            <a:pPr>
              <a:spcBef>
                <a:spcPts val="400"/>
              </a:spcBef>
              <a:defRPr sz="1200">
                <a:solidFill>
                  <a:srgbClr val="5B677C"/>
                </a:solidFill>
                <a:latin typeface="Aptos"/>
              </a:defRPr>
            </a:pPr>
            <a:r>
              <a:rPr>
                <a:latin typeface="Aptos"/>
              </a:rPr>
              <a:t>Backbone đã học cạnh, texture, hình dạng cơ bản. P2/head mới học thêm trên dữ liệu UAV, giảm rủi ro train chậm hoặc kém ổn định.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34840" y="2788920"/>
            <a:ext cx="333756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434840" y="2788920"/>
            <a:ext cx="73152" cy="2011680"/>
          </a:xfrm>
          <a:prstGeom prst="rect">
            <a:avLst/>
          </a:prstGeom>
          <a:solidFill>
            <a:srgbClr val="11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636007" y="2898648"/>
            <a:ext cx="3008376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52038"/>
                </a:solidFill>
                <a:latin typeface="Aptos"/>
              </a:defRPr>
            </a:pPr>
            <a:r>
              <a:rPr>
                <a:latin typeface="Aptos"/>
              </a:rPr>
              <a:t>Nạp được gì?</a:t>
            </a:r>
          </a:p>
          <a:p>
            <a:pPr>
              <a:spcBef>
                <a:spcPts val="400"/>
              </a:spcBef>
              <a:defRPr sz="1200">
                <a:solidFill>
                  <a:srgbClr val="5B677C"/>
                </a:solidFill>
                <a:latin typeface="Aptos"/>
              </a:defRPr>
            </a:pPr>
            <a:r>
              <a:rPr>
                <a:latin typeface="Aptos"/>
              </a:rPr>
              <a:t>Các layer trùng shape được nạp; layer phát sinh do P2 và Detect bốn nhánh được khởi tạo mới và học trong fine-tuning.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56448" y="2788920"/>
            <a:ext cx="333756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156448" y="2788920"/>
            <a:ext cx="73152" cy="2011680"/>
          </a:xfrm>
          <a:prstGeom prst="rect">
            <a:avLst/>
          </a:prstGeom>
          <a:solidFill>
            <a:srgbClr val="418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357616" y="2898648"/>
            <a:ext cx="3008376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52038"/>
                </a:solidFill>
                <a:latin typeface="Aptos"/>
              </a:defRPr>
            </a:pPr>
            <a:r>
              <a:rPr>
                <a:latin typeface="Aptos"/>
              </a:rPr>
              <a:t>Tại sao không freeze?</a:t>
            </a:r>
          </a:p>
          <a:p>
            <a:pPr>
              <a:spcBef>
                <a:spcPts val="400"/>
              </a:spcBef>
              <a:defRPr sz="1200">
                <a:solidFill>
                  <a:srgbClr val="5B677C"/>
                </a:solidFill>
                <a:latin typeface="Aptos"/>
              </a:defRPr>
            </a:pPr>
            <a:r>
              <a:rPr>
                <a:latin typeface="Aptos"/>
              </a:rPr>
              <a:t>VisDrone khác dữ liệu tự nhiên: góc nhìn cao, vật thể nhỏ, mật độ dày. Fine-tune toàn bộ giúp backbone thích nghi với miền UAV.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5285232"/>
            <a:ext cx="10287000" cy="347472"/>
          </a:xfrm>
          <a:prstGeom prst="rect">
            <a:avLst/>
          </a:prstGeom>
          <a:noFill/>
        </p:spPr>
        <p:txBody>
          <a:bodyPr wrap="square" lIns="73152" tIns="27432" rIns="73152" bIns="27432">
            <a:noAutofit/>
          </a:bodyPr>
          <a:lstStyle/>
          <a:p>
            <a:pPr algn="ctr">
              <a:defRPr sz="1300" b="1">
                <a:solidFill>
                  <a:srgbClr val="152038"/>
                </a:solidFill>
                <a:latin typeface="Aptos"/>
              </a:defRPr>
            </a:pPr>
            <a:r>
              <a:t>Cơ chế transfer learning</a:t>
            </a:r>
          </a:p>
          <a:p>
            <a:pPr algn="ctr">
              <a:spcBef>
                <a:spcPts val="200"/>
              </a:spcBef>
              <a:defRPr sz="1150">
                <a:solidFill>
                  <a:srgbClr val="5B677C"/>
                </a:solidFill>
                <a:latin typeface="Aptos"/>
              </a:defRPr>
            </a:pPr>
            <a:r>
              <a:t>Nạp tensor khớp key/shape; nhánh P2 học tiếp khi fine-tune.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10896"/>
            <a:ext cx="10881360" cy="53035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>
              <a:defRPr sz="3000" b="1">
                <a:solidFill>
                  <a:srgbClr val="152038"/>
                </a:solidFill>
                <a:latin typeface="Aptos Display"/>
              </a:defRPr>
            </a:pPr>
            <a:r>
              <a:rPr>
                <a:latin typeface="Aptos"/>
              </a:rPr>
              <a:t>Fine-tuning trên validation: mô hình có học ổn định không?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68680"/>
            <a:ext cx="10241280" cy="310896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>
              <a:defRPr sz="1300" b="0">
                <a:solidFill>
                  <a:srgbClr val="5B677C"/>
                </a:solidFill>
                <a:latin typeface="Aptos"/>
              </a:defRPr>
            </a:pPr>
            <a:r>
              <a:rPr>
                <a:latin typeface="Aptos"/>
              </a:rPr>
              <a:t>Đọc loss train và metric validation trước khi kết luận bằng test-dev.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46520"/>
            <a:ext cx="859536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>
              <a:defRPr sz="850" b="0">
                <a:solidFill>
                  <a:srgbClr val="5B677C"/>
                </a:solidFill>
                <a:latin typeface="Aptos"/>
              </a:defRPr>
            </a:pPr>
            <a:r>
              <a:rPr>
                <a:latin typeface="Aptos"/>
              </a:rPr>
              <a:t>Project 2 · YOLOv8n-P2 · VisDrone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54864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r">
              <a:defRPr sz="850" b="0">
                <a:solidFill>
                  <a:srgbClr val="5B677C"/>
                </a:solidFill>
                <a:latin typeface="Aptos"/>
              </a:defRPr>
            </a:pPr>
            <a:r>
              <a:rPr>
                <a:latin typeface="Aptos"/>
              </a:rPr>
              <a:t>07</a:t>
            </a:r>
          </a:p>
        </p:txBody>
      </p:sp>
      <p:pic>
        <p:nvPicPr>
          <p:cNvPr id="6" name="Picture 5" descr="finetune_train_box_l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329439"/>
            <a:ext cx="2788920" cy="1465065"/>
          </a:xfrm>
          <a:prstGeom prst="rect">
            <a:avLst/>
          </a:prstGeom>
          <a:ln w="9525">
            <a:solidFill>
              <a:srgbClr val="DAE1EC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58368" y="2889504"/>
            <a:ext cx="2788920" cy="182880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ctr">
              <a:defRPr sz="1050" b="1">
                <a:solidFill>
                  <a:srgbClr val="5B677C"/>
                </a:solidFill>
                <a:latin typeface="Aptos"/>
              </a:defRPr>
            </a:pPr>
            <a:r>
              <a:rPr>
                <a:latin typeface="Aptos"/>
              </a:rPr>
              <a:t>Train box loss</a:t>
            </a:r>
          </a:p>
        </p:txBody>
      </p:sp>
      <p:pic>
        <p:nvPicPr>
          <p:cNvPr id="8" name="Picture 7" descr="finetune_metric_preci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0168" y="1329439"/>
            <a:ext cx="2788920" cy="1465065"/>
          </a:xfrm>
          <a:prstGeom prst="rect">
            <a:avLst/>
          </a:prstGeom>
          <a:ln w="9525">
            <a:solidFill>
              <a:srgbClr val="DAE1EC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3630168" y="2889504"/>
            <a:ext cx="2788920" cy="182880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ctr">
              <a:defRPr sz="1050" b="1">
                <a:solidFill>
                  <a:srgbClr val="5B677C"/>
                </a:solidFill>
                <a:latin typeface="Aptos"/>
              </a:defRPr>
            </a:pPr>
            <a:r>
              <a:rPr>
                <a:latin typeface="Aptos"/>
              </a:rPr>
              <a:t>Precision</a:t>
            </a:r>
          </a:p>
        </p:txBody>
      </p:sp>
      <p:pic>
        <p:nvPicPr>
          <p:cNvPr id="10" name="Picture 9" descr="finetune_metric_reca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322831"/>
            <a:ext cx="2788920" cy="1465065"/>
          </a:xfrm>
          <a:prstGeom prst="rect">
            <a:avLst/>
          </a:prstGeom>
          <a:ln w="9525">
            <a:solidFill>
              <a:srgbClr val="DAE1EC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658368" y="4882896"/>
            <a:ext cx="2788920" cy="182880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ctr">
              <a:defRPr sz="1050" b="1">
                <a:solidFill>
                  <a:srgbClr val="5B677C"/>
                </a:solidFill>
                <a:latin typeface="Aptos"/>
              </a:defRPr>
            </a:pPr>
            <a:r>
              <a:rPr>
                <a:latin typeface="Aptos"/>
              </a:rPr>
              <a:t>Recall</a:t>
            </a:r>
          </a:p>
        </p:txBody>
      </p:sp>
      <p:pic>
        <p:nvPicPr>
          <p:cNvPr id="12" name="Picture 11" descr="finetune_metric_map5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0168" y="3322831"/>
            <a:ext cx="2788920" cy="1465065"/>
          </a:xfrm>
          <a:prstGeom prst="rect">
            <a:avLst/>
          </a:prstGeom>
          <a:ln w="9525">
            <a:solidFill>
              <a:srgbClr val="DAE1EC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3630168" y="4882896"/>
            <a:ext cx="2788920" cy="182880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ctr">
              <a:defRPr sz="1050" b="1">
                <a:solidFill>
                  <a:srgbClr val="5B677C"/>
                </a:solidFill>
                <a:latin typeface="Aptos"/>
              </a:defRPr>
            </a:pPr>
            <a:r>
              <a:rPr>
                <a:latin typeface="Aptos"/>
              </a:rPr>
              <a:t>mAP50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20840" y="1298448"/>
            <a:ext cx="233172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720840" y="1298448"/>
            <a:ext cx="73152" cy="987552"/>
          </a:xfrm>
          <a:prstGeom prst="rect">
            <a:avLst/>
          </a:prstGeom>
          <a:solidFill>
            <a:srgbClr val="11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922007" y="1408176"/>
            <a:ext cx="2002536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52038"/>
                </a:solidFill>
                <a:latin typeface="Aptos"/>
              </a:defRPr>
            </a:pPr>
            <a:r>
              <a:rPr>
                <a:latin typeface="Aptos"/>
              </a:rPr>
              <a:t>YOLOv8n-P2 val</a:t>
            </a:r>
          </a:p>
          <a:p>
            <a:pPr>
              <a:spcBef>
                <a:spcPts val="400"/>
              </a:spcBef>
              <a:defRPr sz="1200">
                <a:solidFill>
                  <a:srgbClr val="5B677C"/>
                </a:solidFill>
                <a:latin typeface="Aptos"/>
              </a:defRPr>
            </a:pPr>
            <a:r>
              <a:rPr>
                <a:latin typeface="Aptos"/>
              </a:rPr>
              <a:t>Precision 46.1%</a:t>
            </a:r>
            <a:br/>
            <a:r>
              <a:rPr>
                <a:latin typeface="Aptos"/>
              </a:rPr>
              <a:t>Recall 37.0%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81160" y="1298448"/>
            <a:ext cx="233172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281160" y="1298448"/>
            <a:ext cx="73152" cy="987552"/>
          </a:xfrm>
          <a:prstGeom prst="rect">
            <a:avLst/>
          </a:prstGeom>
          <a:solidFill>
            <a:srgbClr val="2D6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482328" y="1408176"/>
            <a:ext cx="2002536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52038"/>
                </a:solidFill>
                <a:latin typeface="Aptos"/>
              </a:defRPr>
            </a:pPr>
            <a:r>
              <a:rPr>
                <a:latin typeface="Aptos"/>
              </a:rPr>
              <a:t>mAP validation</a:t>
            </a:r>
          </a:p>
          <a:p>
            <a:pPr>
              <a:spcBef>
                <a:spcPts val="400"/>
              </a:spcBef>
              <a:defRPr sz="1200">
                <a:solidFill>
                  <a:srgbClr val="5B677C"/>
                </a:solidFill>
                <a:latin typeface="Aptos"/>
              </a:defRPr>
            </a:pPr>
            <a:r>
              <a:rPr>
                <a:latin typeface="Aptos"/>
              </a:rPr>
              <a:t>mAP50 34.5%</a:t>
            </a:r>
            <a:br/>
            <a:r>
              <a:rPr>
                <a:latin typeface="Aptos"/>
              </a:rPr>
              <a:t>mAP50-95 19.7%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84848" y="2880360"/>
            <a:ext cx="457200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20">
                <a:solidFill>
                  <a:srgbClr val="141B28"/>
                </a:solidFill>
                <a:latin typeface="Aptos"/>
              </a:defRPr>
            </a:pPr>
            <a:r>
              <a:rPr>
                <a:latin typeface="Aptos"/>
              </a:rPr>
              <a:t>• Loss giảm ổn định, không có dấu hiệu nổ loss.</a:t>
            </a:r>
          </a:p>
          <a:p>
            <a:pPr>
              <a:spcAft>
                <a:spcPts val="300"/>
              </a:spcAft>
              <a:defRPr sz="1320">
                <a:solidFill>
                  <a:srgbClr val="141B28"/>
                </a:solidFill>
                <a:latin typeface="Aptos"/>
              </a:defRPr>
            </a:pPr>
            <a:r>
              <a:rPr>
                <a:latin typeface="Aptos"/>
              </a:rPr>
              <a:t>• YOLOv8n-P2 tăng recall và mAP so với YOLOv8n trên validation.</a:t>
            </a:r>
          </a:p>
          <a:p>
            <a:pPr>
              <a:spcAft>
                <a:spcPts val="300"/>
              </a:spcAft>
              <a:defRPr sz="1320">
                <a:solidFill>
                  <a:srgbClr val="141B28"/>
                </a:solidFill>
                <a:latin typeface="Aptos"/>
              </a:defRPr>
            </a:pPr>
            <a:r>
              <a:rPr>
                <a:latin typeface="Aptos"/>
              </a:rPr>
              <a:t>• YOLOv8s vẫn cao hơn về accuracy tuyệt đối, nhưng lớn hơn nhiều.</a:t>
            </a:r>
          </a:p>
          <a:p>
            <a:pPr>
              <a:spcAft>
                <a:spcPts val="300"/>
              </a:spcAft>
              <a:defRPr sz="1320">
                <a:solidFill>
                  <a:srgbClr val="141B28"/>
                </a:solidFill>
                <a:latin typeface="Aptos"/>
              </a:defRPr>
            </a:pPr>
            <a:r>
              <a:rPr>
                <a:latin typeface="Aptos"/>
              </a:rPr>
              <a:t>• Validation dùng để chọn checkpoint; test-dev mới là đánh giá độc lập.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5349240"/>
            <a:ext cx="452628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>
              <a:defRPr sz="1200" b="1">
                <a:solidFill>
                  <a:srgbClr val="5B677C"/>
                </a:solidFill>
                <a:latin typeface="Aptos"/>
              </a:defRPr>
            </a:pPr>
            <a:r>
              <a:rPr>
                <a:latin typeface="Aptos"/>
              </a:rPr>
              <a:t>Nhận xét</a:t>
            </a:r>
          </a:p>
          <a:p>
            <a:pPr>
              <a:defRPr sz="1200">
                <a:latin typeface="Aptos"/>
              </a:defRPr>
            </a:pPr>
            <a:r>
              <a:rPr>
                <a:latin typeface="Aptos"/>
              </a:rPr>
              <a:t>Loss giảm ổn định và metric validation tăng, cho thấy checkpoint được chọn không chỉ dựa vào một con số cuối.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10896"/>
            <a:ext cx="10881360" cy="53035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>
              <a:defRPr sz="3000" b="1">
                <a:solidFill>
                  <a:srgbClr val="152038"/>
                </a:solidFill>
                <a:latin typeface="Aptos Display"/>
              </a:defRPr>
            </a:pPr>
            <a:r>
              <a:rPr>
                <a:latin typeface="Aptos"/>
              </a:rPr>
              <a:t>Benchmark test-dev: kết quả chính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68680"/>
            <a:ext cx="10241280" cy="310896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>
              <a:defRPr sz="1300" b="0">
                <a:solidFill>
                  <a:srgbClr val="5B677C"/>
                </a:solidFill>
                <a:latin typeface="Aptos"/>
              </a:defRPr>
            </a:pPr>
            <a:r>
              <a:rPr>
                <a:latin typeface="Aptos"/>
              </a:rPr>
              <a:t>So sánh cùng dataset, cùng imgsz=640, cùng pipeline Ultralytics.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46520"/>
            <a:ext cx="859536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>
              <a:defRPr sz="850" b="0">
                <a:solidFill>
                  <a:srgbClr val="5B677C"/>
                </a:solidFill>
                <a:latin typeface="Aptos"/>
              </a:defRPr>
            </a:pPr>
            <a:r>
              <a:rPr>
                <a:latin typeface="Aptos"/>
              </a:rPr>
              <a:t>Project 2 · YOLOv8n-P2 · VisDrone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54864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r">
              <a:defRPr sz="850" b="0">
                <a:solidFill>
                  <a:srgbClr val="5B677C"/>
                </a:solidFill>
                <a:latin typeface="Aptos"/>
              </a:defRPr>
            </a:pPr>
            <a:r>
              <a:rPr>
                <a:latin typeface="Aptos"/>
              </a:rPr>
              <a:t>08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325880"/>
          <a:ext cx="1088136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3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3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3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13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13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135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7190"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Model</a:t>
                      </a:r>
                    </a:p>
                  </a:txBody>
                  <a:tcPr marL="36576" marR="36576"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Precision</a:t>
                      </a:r>
                    </a:p>
                  </a:txBody>
                  <a:tcPr marL="36576" marR="36576"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Recall</a:t>
                      </a:r>
                    </a:p>
                  </a:txBody>
                  <a:tcPr marL="36576" marR="36576"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mAP50</a:t>
                      </a:r>
                    </a:p>
                  </a:txBody>
                  <a:tcPr marL="36576" marR="36576"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mAP50-95</a:t>
                      </a:r>
                    </a:p>
                  </a:txBody>
                  <a:tcPr marL="36576" marR="36576"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FPS approx</a:t>
                      </a:r>
                    </a:p>
                  </a:txBody>
                  <a:tcPr marL="36576" marR="36576">
                    <a:solidFill>
                      <a:srgbClr val="1520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41B28"/>
                          </a:solidFill>
                          <a:latin typeface="Aptos"/>
                        </a:defRPr>
                      </a:pPr>
                      <a:r>
                        <a:t>yolov8n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41B28"/>
                          </a:solidFill>
                          <a:latin typeface="Aptos"/>
                        </a:defRPr>
                      </a:pPr>
                      <a:r>
                        <a:t>40.1%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41B28"/>
                          </a:solidFill>
                          <a:latin typeface="Aptos"/>
                        </a:defRPr>
                      </a:pPr>
                      <a:r>
                        <a:t>30.9%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41B28"/>
                          </a:solidFill>
                          <a:latin typeface="Aptos"/>
                        </a:defRPr>
                      </a:pPr>
                      <a:r>
                        <a:t>27.1%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41B28"/>
                          </a:solidFill>
                          <a:latin typeface="Aptos"/>
                        </a:defRPr>
                      </a:pPr>
                      <a:r>
                        <a:t>15.1%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41B28"/>
                          </a:solidFill>
                          <a:latin typeface="Aptos"/>
                        </a:defRPr>
                      </a:pPr>
                      <a:r>
                        <a:t>148 FPS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141B28"/>
                          </a:solidFill>
                          <a:latin typeface="Aptos"/>
                        </a:defRPr>
                      </a:pPr>
                      <a:r>
                        <a:t>yolov8n-p2</a:t>
                      </a:r>
                    </a:p>
                  </a:txBody>
                  <a:tcPr marL="36576" marR="36576">
                    <a:solidFill>
                      <a:srgbClr val="E2F5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141B28"/>
                          </a:solidFill>
                          <a:latin typeface="Aptos"/>
                        </a:defRPr>
                      </a:pPr>
                      <a:r>
                        <a:t>40.7%</a:t>
                      </a:r>
                    </a:p>
                  </a:txBody>
                  <a:tcPr marL="36576" marR="36576">
                    <a:solidFill>
                      <a:srgbClr val="E2F5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141B28"/>
                          </a:solidFill>
                          <a:latin typeface="Aptos"/>
                        </a:defRPr>
                      </a:pPr>
                      <a:r>
                        <a:t>32.8%</a:t>
                      </a:r>
                    </a:p>
                  </a:txBody>
                  <a:tcPr marL="36576" marR="36576">
                    <a:solidFill>
                      <a:srgbClr val="E2F5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141B28"/>
                          </a:solidFill>
                          <a:latin typeface="Aptos"/>
                        </a:defRPr>
                      </a:pPr>
                      <a:r>
                        <a:t>28.6%</a:t>
                      </a:r>
                    </a:p>
                  </a:txBody>
                  <a:tcPr marL="36576" marR="36576">
                    <a:solidFill>
                      <a:srgbClr val="E2F5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141B28"/>
                          </a:solidFill>
                          <a:latin typeface="Aptos"/>
                        </a:defRPr>
                      </a:pPr>
                      <a:r>
                        <a:t>15.9%</a:t>
                      </a:r>
                    </a:p>
                  </a:txBody>
                  <a:tcPr marL="36576" marR="36576">
                    <a:solidFill>
                      <a:srgbClr val="E2F5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141B28"/>
                          </a:solidFill>
                          <a:latin typeface="Aptos"/>
                        </a:defRPr>
                      </a:pPr>
                      <a:r>
                        <a:t>112 FPS</a:t>
                      </a:r>
                    </a:p>
                  </a:txBody>
                  <a:tcPr marL="36576" marR="36576">
                    <a:solidFill>
                      <a:srgbClr val="E2F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41B28"/>
                          </a:solidFill>
                          <a:latin typeface="Aptos"/>
                        </a:defRPr>
                      </a:pPr>
                      <a:r>
                        <a:t>yolov8s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41B28"/>
                          </a:solidFill>
                          <a:latin typeface="Aptos"/>
                        </a:defRPr>
                      </a:pPr>
                      <a:r>
                        <a:t>45.1%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41B28"/>
                          </a:solidFill>
                          <a:latin typeface="Aptos"/>
                        </a:defRPr>
                      </a:pPr>
                      <a:r>
                        <a:t>35.4%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41B28"/>
                          </a:solidFill>
                          <a:latin typeface="Aptos"/>
                        </a:defRPr>
                      </a:pPr>
                      <a:r>
                        <a:t>32.0%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41B28"/>
                          </a:solidFill>
                          <a:latin typeface="Aptos"/>
                        </a:defRPr>
                      </a:pPr>
                      <a:r>
                        <a:t>18.3%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41B28"/>
                          </a:solidFill>
                          <a:latin typeface="Aptos"/>
                        </a:defRPr>
                      </a:pPr>
                      <a:r>
                        <a:t>104 FPS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77240" y="3337560"/>
            <a:ext cx="32461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3337560"/>
            <a:ext cx="73152" cy="1371600"/>
          </a:xfrm>
          <a:prstGeom prst="rect">
            <a:avLst/>
          </a:prstGeom>
          <a:solidFill>
            <a:srgbClr val="11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8408" y="3447288"/>
            <a:ext cx="2916936" cy="1225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52038"/>
                </a:solidFill>
                <a:latin typeface="Aptos"/>
              </a:defRPr>
            </a:pPr>
            <a:r>
              <a:rPr>
                <a:latin typeface="Aptos"/>
              </a:rPr>
              <a:t>So với YOLOv8n</a:t>
            </a:r>
          </a:p>
          <a:p>
            <a:pPr>
              <a:spcBef>
                <a:spcPts val="400"/>
              </a:spcBef>
              <a:defRPr sz="1300">
                <a:solidFill>
                  <a:srgbClr val="5B677C"/>
                </a:solidFill>
                <a:latin typeface="Aptos"/>
              </a:defRPr>
            </a:pPr>
            <a:r>
              <a:rPr>
                <a:latin typeface="Aptos"/>
              </a:rPr>
              <a:t>Recall +1.84 điểm %</a:t>
            </a:r>
            <a:br/>
            <a:r>
              <a:rPr>
                <a:latin typeface="Aptos"/>
              </a:rPr>
              <a:t>mAP50 +1.47 điểm %</a:t>
            </a:r>
            <a:br/>
            <a:r>
              <a:rPr>
                <a:latin typeface="Aptos"/>
              </a:rPr>
              <a:t>mAP50-95 +0.87 điểm 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62272" y="3337560"/>
            <a:ext cx="32461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62272" y="3337560"/>
            <a:ext cx="73152" cy="1371600"/>
          </a:xfrm>
          <a:prstGeom prst="rect">
            <a:avLst/>
          </a:prstGeom>
          <a:solidFill>
            <a:srgbClr val="DE9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63440" y="3447288"/>
            <a:ext cx="2916936" cy="1225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52038"/>
                </a:solidFill>
                <a:latin typeface="Aptos"/>
              </a:defRPr>
            </a:pPr>
            <a:r>
              <a:rPr>
                <a:latin typeface="Aptos"/>
              </a:rPr>
              <a:t>So với YOLOv8s</a:t>
            </a:r>
          </a:p>
          <a:p>
            <a:pPr>
              <a:spcBef>
                <a:spcPts val="400"/>
              </a:spcBef>
              <a:defRPr sz="1300">
                <a:solidFill>
                  <a:srgbClr val="5B677C"/>
                </a:solidFill>
                <a:latin typeface="Aptos"/>
              </a:defRPr>
            </a:pPr>
            <a:r>
              <a:rPr>
                <a:latin typeface="Aptos"/>
              </a:rPr>
              <a:t>YOLOv8s chính xác hơn, nhưng là model lớn hơn; dùng làm mốc accuracy, không cùng mức tài nguyên.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3337560"/>
            <a:ext cx="32461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38160" y="3337560"/>
            <a:ext cx="73152" cy="1371600"/>
          </a:xfrm>
          <a:prstGeom prst="rect">
            <a:avLst/>
          </a:prstGeom>
          <a:solidFill>
            <a:srgbClr val="2D6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39328" y="3447288"/>
            <a:ext cx="2916936" cy="1225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52038"/>
                </a:solidFill>
                <a:latin typeface="Aptos"/>
              </a:defRPr>
            </a:pPr>
            <a:r>
              <a:rPr>
                <a:latin typeface="Aptos"/>
              </a:rPr>
              <a:t>Kết luận test</a:t>
            </a:r>
          </a:p>
          <a:p>
            <a:pPr>
              <a:spcBef>
                <a:spcPts val="400"/>
              </a:spcBef>
              <a:defRPr sz="1300">
                <a:solidFill>
                  <a:srgbClr val="5B677C"/>
                </a:solidFill>
                <a:latin typeface="Aptos"/>
              </a:defRPr>
            </a:pPr>
            <a:r>
              <a:rPr>
                <a:latin typeface="Aptos"/>
              </a:rPr>
              <a:t>P2 giúp mô hình nano nhạy hơn với vật thể nhỏ, đổi lại inference chậm hơn YOLOv8n.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5257800"/>
            <a:ext cx="1014984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ctr">
              <a:defRPr sz="1300" b="1">
                <a:solidFill>
                  <a:srgbClr val="152038"/>
                </a:solidFill>
                <a:latin typeface="Aptos"/>
              </a:defRPr>
            </a:pPr>
            <a:r>
              <a:rPr>
                <a:latin typeface="Aptos"/>
              </a:rPr>
              <a:t>Nhận xét tổng hợp</a:t>
            </a:r>
          </a:p>
          <a:p>
            <a:pPr>
              <a:defRPr sz="1300">
                <a:latin typeface="Aptos"/>
              </a:defRPr>
            </a:pPr>
            <a:r>
              <a:rPr>
                <a:latin typeface="Aptos"/>
              </a:rPr>
              <a:t>YOLOv8n-P2 là phương án cân bằng: tốt hơn YOLOv8n ở các chỉ số chính, nhưng vẫn nhẹ hơn YOLOv8s.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10896"/>
            <a:ext cx="10881360" cy="53035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>
              <a:defRPr sz="3000" b="1">
                <a:solidFill>
                  <a:srgbClr val="152038"/>
                </a:solidFill>
                <a:latin typeface="Aptos Display"/>
              </a:defRPr>
            </a:pPr>
            <a:r>
              <a:rPr>
                <a:latin typeface="Aptos"/>
              </a:rPr>
              <a:t>Tốc độ và đánh đổi khi thêm P2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68680"/>
            <a:ext cx="10241280" cy="310896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>
              <a:defRPr sz="1300" b="0">
                <a:solidFill>
                  <a:srgbClr val="5B677C"/>
                </a:solidFill>
                <a:latin typeface="Aptos"/>
              </a:defRPr>
            </a:pPr>
            <a:r>
              <a:rPr>
                <a:latin typeface="Aptos"/>
              </a:rPr>
              <a:t>P2 làm feature map lớn hơn, nên accuracy tăng đi kèm chi phí suy luận.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46520"/>
            <a:ext cx="859536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>
              <a:defRPr sz="850" b="0">
                <a:solidFill>
                  <a:srgbClr val="5B677C"/>
                </a:solidFill>
                <a:latin typeface="Aptos"/>
              </a:defRPr>
            </a:pPr>
            <a:r>
              <a:rPr>
                <a:latin typeface="Aptos"/>
              </a:rPr>
              <a:t>Project 2 · YOLOv8n-P2 · VisDrone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54864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r">
              <a:defRPr sz="850" b="0">
                <a:solidFill>
                  <a:srgbClr val="5B677C"/>
                </a:solidFill>
                <a:latin typeface="Aptos"/>
              </a:defRPr>
            </a:pPr>
            <a:r>
              <a:rPr>
                <a:latin typeface="Aptos"/>
              </a:rPr>
              <a:t>09</a:t>
            </a:r>
          </a:p>
        </p:txBody>
      </p:sp>
      <p:pic>
        <p:nvPicPr>
          <p:cNvPr id="6" name="Picture 5" descr="test_speed_inference_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64521"/>
            <a:ext cx="5166360" cy="2713973"/>
          </a:xfrm>
          <a:prstGeom prst="rect">
            <a:avLst/>
          </a:prstGeom>
          <a:ln w="9525">
            <a:solidFill>
              <a:srgbClr val="DAE1EC"/>
            </a:solidFill>
          </a:ln>
        </p:spPr>
      </p:pic>
      <p:sp>
        <p:nvSpPr>
          <p:cNvPr id="7" name="Rounded Rectangle 6"/>
          <p:cNvSpPr/>
          <p:nvPr/>
        </p:nvSpPr>
        <p:spPr>
          <a:xfrm>
            <a:off x="6263640" y="1389888"/>
            <a:ext cx="160020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499616"/>
            <a:ext cx="132588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>
              <a:defRPr sz="950" b="1">
                <a:solidFill>
                  <a:srgbClr val="5B677C"/>
                </a:solidFill>
                <a:latin typeface="Aptos"/>
              </a:defRPr>
            </a:pPr>
            <a:r>
              <a:rPr>
                <a:latin typeface="Aptos"/>
              </a:rPr>
              <a:t>YOLOv8n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764792"/>
            <a:ext cx="1325880" cy="310896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>
              <a:defRPr sz="1800" b="1">
                <a:solidFill>
                  <a:srgbClr val="5B677C"/>
                </a:solidFill>
                <a:latin typeface="Aptos"/>
              </a:defRPr>
            </a:pPr>
            <a:r>
              <a:rPr>
                <a:latin typeface="Aptos"/>
              </a:rPr>
              <a:t>8.20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21408"/>
            <a:ext cx="132588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>
              <a:defRPr sz="919" b="0">
                <a:solidFill>
                  <a:srgbClr val="5B677C"/>
                </a:solidFill>
                <a:latin typeface="Aptos"/>
              </a:defRPr>
            </a:pPr>
            <a:r>
              <a:rPr>
                <a:latin typeface="Aptos"/>
              </a:rPr>
              <a:t>GFLOPs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389888"/>
            <a:ext cx="160020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0" y="1499616"/>
            <a:ext cx="132588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>
              <a:defRPr sz="950" b="1">
                <a:solidFill>
                  <a:srgbClr val="5B677C"/>
                </a:solidFill>
                <a:latin typeface="Aptos"/>
              </a:defRPr>
            </a:pPr>
            <a:r>
              <a:rPr>
                <a:latin typeface="Aptos"/>
              </a:rPr>
              <a:t>YOLOv8n-P2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64792"/>
            <a:ext cx="1325880" cy="310896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>
              <a:defRPr sz="1800" b="1">
                <a:solidFill>
                  <a:srgbClr val="119184"/>
                </a:solidFill>
                <a:latin typeface="Aptos"/>
              </a:defRPr>
            </a:pPr>
            <a:r>
              <a:rPr>
                <a:latin typeface="Aptos"/>
              </a:rPr>
              <a:t>12.38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121408"/>
            <a:ext cx="132588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>
              <a:defRPr sz="919" b="0">
                <a:solidFill>
                  <a:srgbClr val="5B677C"/>
                </a:solidFill>
                <a:latin typeface="Aptos"/>
              </a:defRPr>
            </a:pPr>
            <a:r>
              <a:rPr>
                <a:latin typeface="Aptos"/>
              </a:rPr>
              <a:t>GFLOPs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921240" y="1389888"/>
            <a:ext cx="160020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58400" y="1499616"/>
            <a:ext cx="132588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>
              <a:defRPr sz="950" b="1">
                <a:solidFill>
                  <a:srgbClr val="5B677C"/>
                </a:solidFill>
                <a:latin typeface="Aptos"/>
              </a:defRPr>
            </a:pPr>
            <a:r>
              <a:rPr>
                <a:latin typeface="Aptos"/>
              </a:rPr>
              <a:t>YOLOv8s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1764792"/>
            <a:ext cx="1325880" cy="310896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>
              <a:defRPr sz="1800" b="1">
                <a:solidFill>
                  <a:srgbClr val="DE942A"/>
                </a:solidFill>
                <a:latin typeface="Aptos"/>
              </a:defRPr>
            </a:pPr>
            <a:r>
              <a:rPr>
                <a:latin typeface="Aptos"/>
              </a:rPr>
              <a:t>28.67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2121408"/>
            <a:ext cx="132588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>
              <a:defRPr sz="919" b="0">
                <a:solidFill>
                  <a:srgbClr val="5B677C"/>
                </a:solidFill>
                <a:latin typeface="Aptos"/>
              </a:defRPr>
            </a:pPr>
            <a:r>
              <a:rPr>
                <a:latin typeface="Aptos"/>
              </a:rPr>
              <a:t>GFLOPs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743200"/>
            <a:ext cx="507492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50">
                <a:solidFill>
                  <a:srgbClr val="141B28"/>
                </a:solidFill>
                <a:latin typeface="Aptos"/>
              </a:defRPr>
            </a:pPr>
            <a:r>
              <a:rPr>
                <a:latin typeface="Aptos"/>
              </a:rPr>
              <a:t>• P2/4 với ảnh 640 tạo feature map 160×160, nhiều vị trí dự đoán hơn P3.</a:t>
            </a:r>
          </a:p>
          <a:p>
            <a:pPr>
              <a:spcAft>
                <a:spcPts val="300"/>
              </a:spcAft>
              <a:defRPr sz="1350">
                <a:solidFill>
                  <a:srgbClr val="141B28"/>
                </a:solidFill>
                <a:latin typeface="Aptos"/>
              </a:defRPr>
            </a:pPr>
            <a:r>
              <a:rPr>
                <a:latin typeface="Aptos"/>
              </a:rPr>
              <a:t>• YOLOv8n-P2 inference chậm hơn YOLOv8n nhưng vẫn nhanh hơn YOLOv8s trong test tổng.</a:t>
            </a:r>
          </a:p>
          <a:p>
            <a:pPr>
              <a:spcAft>
                <a:spcPts val="300"/>
              </a:spcAft>
              <a:defRPr sz="1350">
                <a:solidFill>
                  <a:srgbClr val="141B28"/>
                </a:solidFill>
                <a:latin typeface="Aptos"/>
              </a:defRPr>
            </a:pPr>
            <a:r>
              <a:rPr>
                <a:latin typeface="Aptos"/>
              </a:rPr>
              <a:t>• GFLOPs của YOLOv8n-P2 tăng so với YOLOv8n nhưng vẫn thấp hơn rõ rệt YOLOv8s.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5074920"/>
            <a:ext cx="507492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309360" y="5074920"/>
            <a:ext cx="73152" cy="749808"/>
          </a:xfrm>
          <a:prstGeom prst="rect">
            <a:avLst/>
          </a:prstGeom>
          <a:solidFill>
            <a:srgbClr val="418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10528" y="5184648"/>
            <a:ext cx="4745736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152038"/>
                </a:solidFill>
                <a:latin typeface="Aptos"/>
              </a:defRPr>
            </a:pPr>
            <a:r>
              <a:rPr>
                <a:latin typeface="Aptos"/>
              </a:rPr>
              <a:t>Nhận xét</a:t>
            </a:r>
          </a:p>
          <a:p>
            <a:pPr>
              <a:defRPr sz="1250">
                <a:latin typeface="Aptos"/>
              </a:defRPr>
            </a:pPr>
            <a:r>
              <a:rPr>
                <a:latin typeface="Aptos"/>
              </a:rPr>
              <a:t>Đánh đổi accuracy/speed là hợp lý khi mục tiêu là phát hiện vật thể nhỏ trong video UAV, không chỉ tối đa FPS.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10896"/>
            <a:ext cx="10881360" cy="53035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>
              <a:defRPr sz="3000" b="1">
                <a:solidFill>
                  <a:srgbClr val="152038"/>
                </a:solidFill>
                <a:latin typeface="Aptos Display"/>
              </a:defRPr>
            </a:pPr>
            <a:r>
              <a:rPr>
                <a:latin typeface="Aptos"/>
              </a:rPr>
              <a:t>Ứng dụng realtime trong repo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68680"/>
            <a:ext cx="10241280" cy="310896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>
              <a:defRPr sz="1300" b="0">
                <a:solidFill>
                  <a:srgbClr val="5B677C"/>
                </a:solidFill>
                <a:latin typeface="Aptos"/>
              </a:defRPr>
            </a:pPr>
            <a:r>
              <a:rPr>
                <a:latin typeface="Aptos"/>
              </a:rPr>
              <a:t>Từ checkpoint best.pt đến web demo có thể chạy, xem, log và export.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46520"/>
            <a:ext cx="859536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>
              <a:defRPr sz="850" b="0">
                <a:solidFill>
                  <a:srgbClr val="5B677C"/>
                </a:solidFill>
                <a:latin typeface="Aptos"/>
              </a:defRPr>
            </a:pPr>
            <a:r>
              <a:rPr>
                <a:latin typeface="Aptos"/>
              </a:rPr>
              <a:t>Project 2 · YOLOv8n-P2 · VisDrone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54864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r">
              <a:defRPr sz="850" b="0">
                <a:solidFill>
                  <a:srgbClr val="5B677C"/>
                </a:solidFill>
                <a:latin typeface="Aptos"/>
              </a:defRPr>
            </a:pPr>
            <a:r>
              <a:rPr>
                <a:latin typeface="Aptos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41732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417320"/>
            <a:ext cx="73152" cy="914400"/>
          </a:xfrm>
          <a:prstGeom prst="rect">
            <a:avLst/>
          </a:prstGeom>
          <a:solidFill>
            <a:srgbClr val="2D6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9536" y="1527048"/>
            <a:ext cx="1362456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52038"/>
                </a:solidFill>
                <a:latin typeface="Aptos"/>
              </a:defRPr>
            </a:pPr>
            <a:r>
              <a:rPr>
                <a:latin typeface="Aptos"/>
              </a:rPr>
              <a:t>Browser UI</a:t>
            </a:r>
          </a:p>
          <a:p>
            <a:pPr>
              <a:spcBef>
                <a:spcPts val="400"/>
              </a:spcBef>
              <a:defRPr sz="950">
                <a:solidFill>
                  <a:srgbClr val="5B677C"/>
                </a:solidFill>
                <a:latin typeface="Aptos"/>
              </a:defRPr>
            </a:pPr>
            <a:r>
              <a:rPr>
                <a:latin typeface="Aptos"/>
              </a:rPr>
              <a:t>video, model, options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377439" y="1874519"/>
            <a:ext cx="173737" cy="0"/>
          </a:xfrm>
          <a:prstGeom prst="line">
            <a:avLst/>
          </a:prstGeom>
          <a:ln w="19050">
            <a:solidFill>
              <a:srgbClr val="5B67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606039" y="141732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606039" y="1417320"/>
            <a:ext cx="73152" cy="914400"/>
          </a:xfrm>
          <a:prstGeom prst="rect">
            <a:avLst/>
          </a:prstGeom>
          <a:solidFill>
            <a:srgbClr val="11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807208" y="1527048"/>
            <a:ext cx="1362456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52038"/>
                </a:solidFill>
                <a:latin typeface="Aptos"/>
              </a:defRPr>
            </a:pPr>
            <a:r>
              <a:rPr>
                <a:latin typeface="Aptos"/>
              </a:rPr>
              <a:t>Flask API</a:t>
            </a:r>
          </a:p>
          <a:p>
            <a:pPr>
              <a:spcBef>
                <a:spcPts val="400"/>
              </a:spcBef>
              <a:defRPr sz="950">
                <a:solidFill>
                  <a:srgbClr val="5B677C"/>
                </a:solidFill>
                <a:latin typeface="Aptos"/>
              </a:defRPr>
            </a:pPr>
            <a:r>
              <a:rPr>
                <a:latin typeface="Aptos"/>
              </a:rPr>
              <a:t>/api/config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325112" y="1874519"/>
            <a:ext cx="173736" cy="0"/>
          </a:xfrm>
          <a:prstGeom prst="line">
            <a:avLst/>
          </a:prstGeom>
          <a:ln w="19050">
            <a:solidFill>
              <a:srgbClr val="5B67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553712" y="141732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53712" y="1417320"/>
            <a:ext cx="73152" cy="914400"/>
          </a:xfrm>
          <a:prstGeom prst="rect">
            <a:avLst/>
          </a:prstGeom>
          <a:solidFill>
            <a:srgbClr val="DE9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54879" y="1527048"/>
            <a:ext cx="1362456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52038"/>
                </a:solidFill>
                <a:latin typeface="Aptos"/>
              </a:defRPr>
            </a:pPr>
            <a:r>
              <a:rPr>
                <a:latin typeface="Aptos"/>
              </a:rPr>
              <a:t>OpenCV</a:t>
            </a:r>
          </a:p>
          <a:p>
            <a:pPr>
              <a:spcBef>
                <a:spcPts val="400"/>
              </a:spcBef>
              <a:defRPr sz="950">
                <a:solidFill>
                  <a:srgbClr val="5B677C"/>
                </a:solidFill>
                <a:latin typeface="Aptos"/>
              </a:defRPr>
            </a:pPr>
            <a:r>
              <a:rPr>
                <a:latin typeface="Aptos"/>
              </a:rPr>
              <a:t>VideoCapture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272783" y="1874519"/>
            <a:ext cx="173736" cy="0"/>
          </a:xfrm>
          <a:prstGeom prst="line">
            <a:avLst/>
          </a:prstGeom>
          <a:ln w="19050">
            <a:solidFill>
              <a:srgbClr val="5B67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501383" y="141732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501383" y="1417320"/>
            <a:ext cx="73152" cy="914400"/>
          </a:xfrm>
          <a:prstGeom prst="rect">
            <a:avLst/>
          </a:prstGeom>
          <a:solidFill>
            <a:srgbClr val="6F4E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702551" y="1527048"/>
            <a:ext cx="1362456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52038"/>
                </a:solidFill>
                <a:latin typeface="Aptos"/>
              </a:defRPr>
            </a:pPr>
            <a:r>
              <a:rPr>
                <a:latin typeface="Aptos"/>
              </a:rPr>
              <a:t>YOLOv8n-P2</a:t>
            </a:r>
          </a:p>
          <a:p>
            <a:pPr>
              <a:spcBef>
                <a:spcPts val="400"/>
              </a:spcBef>
              <a:defRPr sz="950">
                <a:solidFill>
                  <a:srgbClr val="5B677C"/>
                </a:solidFill>
                <a:latin typeface="Aptos"/>
              </a:defRPr>
            </a:pPr>
            <a:r>
              <a:rPr>
                <a:latin typeface="Aptos"/>
              </a:rPr>
              <a:t>predict / track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220455" y="1874519"/>
            <a:ext cx="173737" cy="0"/>
          </a:xfrm>
          <a:prstGeom prst="line">
            <a:avLst/>
          </a:prstGeom>
          <a:ln w="19050">
            <a:solidFill>
              <a:srgbClr val="5B67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449056" y="141732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449056" y="1417320"/>
            <a:ext cx="73152" cy="914400"/>
          </a:xfrm>
          <a:prstGeom prst="rect">
            <a:avLst/>
          </a:prstGeom>
          <a:solidFill>
            <a:srgbClr val="418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50224" y="1527048"/>
            <a:ext cx="1362456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52038"/>
                </a:solidFill>
                <a:latin typeface="Aptos"/>
              </a:defRPr>
            </a:pPr>
            <a:r>
              <a:rPr>
                <a:latin typeface="Aptos"/>
              </a:rPr>
              <a:t>Analytics</a:t>
            </a:r>
          </a:p>
          <a:p>
            <a:pPr>
              <a:spcBef>
                <a:spcPts val="400"/>
              </a:spcBef>
              <a:defRPr sz="950">
                <a:solidFill>
                  <a:srgbClr val="5B677C"/>
                </a:solidFill>
                <a:latin typeface="Aptos"/>
              </a:defRPr>
            </a:pPr>
            <a:r>
              <a:rPr>
                <a:latin typeface="Aptos"/>
              </a:rPr>
              <a:t>box, density, count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0168128" y="1874519"/>
            <a:ext cx="173736" cy="0"/>
          </a:xfrm>
          <a:prstGeom prst="line">
            <a:avLst/>
          </a:prstGeom>
          <a:ln w="19050">
            <a:solidFill>
              <a:srgbClr val="5B67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0396728" y="141732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0396728" y="1417320"/>
            <a:ext cx="73152" cy="914400"/>
          </a:xfrm>
          <a:prstGeom prst="rect">
            <a:avLst/>
          </a:prstGeom>
          <a:solidFill>
            <a:srgbClr val="BA3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597896" y="1527048"/>
            <a:ext cx="1362456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52038"/>
                </a:solidFill>
                <a:latin typeface="Aptos"/>
              </a:defRPr>
            </a:pPr>
            <a:r>
              <a:rPr>
                <a:latin typeface="Aptos"/>
              </a:rPr>
              <a:t>MJPEG</a:t>
            </a:r>
          </a:p>
          <a:p>
            <a:pPr>
              <a:spcBef>
                <a:spcPts val="400"/>
              </a:spcBef>
              <a:defRPr sz="950">
                <a:solidFill>
                  <a:srgbClr val="5B677C"/>
                </a:solidFill>
                <a:latin typeface="Aptos"/>
              </a:defRPr>
            </a:pPr>
            <a:r>
              <a:rPr>
                <a:latin typeface="Aptos"/>
              </a:rPr>
              <a:t>stream về browser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2971800"/>
            <a:ext cx="338328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31520" y="2971800"/>
            <a:ext cx="73152" cy="2057400"/>
          </a:xfrm>
          <a:prstGeom prst="rect">
            <a:avLst/>
          </a:prstGeom>
          <a:solidFill>
            <a:srgbClr val="2D6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32688" y="3081528"/>
            <a:ext cx="3054096" cy="1911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52038"/>
                </a:solidFill>
                <a:latin typeface="Aptos"/>
              </a:defRPr>
            </a:pPr>
            <a:r>
              <a:rPr>
                <a:latin typeface="Aptos"/>
              </a:rPr>
              <a:t>Entry points</a:t>
            </a:r>
          </a:p>
          <a:p>
            <a:pPr>
              <a:spcBef>
                <a:spcPts val="400"/>
              </a:spcBef>
              <a:defRPr sz="1180">
                <a:solidFill>
                  <a:srgbClr val="5B677C"/>
                </a:solidFill>
                <a:latin typeface="Aptos"/>
              </a:defRPr>
            </a:pPr>
            <a:r>
              <a:rPr>
                <a:latin typeface="Aptos"/>
              </a:rPr>
              <a:t>app/realtime_front.py: chạy web demo</a:t>
            </a:r>
            <a:br/>
            <a:r>
              <a:rPr>
                <a:latin typeface="Aptos"/>
              </a:rPr>
              <a:t>app/detection.py: batch export video/CSV/JSON</a:t>
            </a:r>
            <a:br/>
            <a:r>
              <a:rPr>
                <a:latin typeface="Aptos"/>
              </a:rPr>
              <a:t>scripts/verify_setup.py: kiểm tra môi trường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07408" y="2971800"/>
            <a:ext cx="338328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407408" y="2971800"/>
            <a:ext cx="73152" cy="2057400"/>
          </a:xfrm>
          <a:prstGeom prst="rect">
            <a:avLst/>
          </a:prstGeom>
          <a:solidFill>
            <a:srgbClr val="11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608576" y="3081528"/>
            <a:ext cx="3054096" cy="1911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52038"/>
                </a:solidFill>
                <a:latin typeface="Aptos"/>
              </a:defRPr>
            </a:pPr>
            <a:r>
              <a:rPr>
                <a:latin typeface="Aptos"/>
              </a:rPr>
              <a:t>Core modules</a:t>
            </a:r>
          </a:p>
          <a:p>
            <a:pPr>
              <a:spcBef>
                <a:spcPts val="400"/>
              </a:spcBef>
              <a:defRPr sz="1180">
                <a:solidFill>
                  <a:srgbClr val="5B677C"/>
                </a:solidFill>
                <a:latin typeface="Aptos"/>
              </a:defRPr>
            </a:pPr>
            <a:r>
              <a:rPr>
                <a:latin typeface="Aptos"/>
              </a:rPr>
              <a:t>realtime_stream.py: đọc frame + inference</a:t>
            </a:r>
            <a:br/>
            <a:r>
              <a:rPr>
                <a:latin typeface="Aptos"/>
              </a:rPr>
              <a:t>realtime_draw.py: vẽ overlay/thuật toán</a:t>
            </a:r>
            <a:br/>
            <a:r>
              <a:rPr>
                <a:latin typeface="Aptos"/>
              </a:rPr>
              <a:t>realtime_state.py: config + cache model</a:t>
            </a:r>
            <a:br/>
            <a:r>
              <a:rPr>
                <a:latin typeface="Aptos"/>
              </a:rPr>
              <a:t>model_registry.py: ánh xạ key → checkpoint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92440" y="2971800"/>
            <a:ext cx="338328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092440" y="2971800"/>
            <a:ext cx="73152" cy="2057400"/>
          </a:xfrm>
          <a:prstGeom prst="rect">
            <a:avLst/>
          </a:prstGeom>
          <a:solidFill>
            <a:srgbClr val="418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293608" y="3081528"/>
            <a:ext cx="3054096" cy="1911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52038"/>
                </a:solidFill>
                <a:latin typeface="Aptos"/>
              </a:defRPr>
            </a:pPr>
            <a:r>
              <a:rPr>
                <a:latin typeface="Aptos"/>
              </a:rPr>
              <a:t>Outputs</a:t>
            </a:r>
          </a:p>
          <a:p>
            <a:pPr>
              <a:spcBef>
                <a:spcPts val="400"/>
              </a:spcBef>
              <a:defRPr sz="1180">
                <a:solidFill>
                  <a:srgbClr val="5B677C"/>
                </a:solidFill>
                <a:latin typeface="Aptos"/>
              </a:defRPr>
            </a:pPr>
            <a:r>
              <a:rPr>
                <a:latin typeface="Aptos"/>
              </a:rPr>
              <a:t>outputs/logs/: frame_log.csv, detections.csv</a:t>
            </a:r>
            <a:br/>
            <a:r>
              <a:rPr>
                <a:latin typeface="Aptos"/>
              </a:rPr>
              <a:t>outputs/detection/: annotated.mp4, summary.json, sample.jpg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" y="5532120"/>
            <a:ext cx="10241280" cy="329184"/>
          </a:xfrm>
          <a:prstGeom prst="rect">
            <a:avLst/>
          </a:prstGeom>
          <a:noFill/>
        </p:spPr>
        <p:txBody>
          <a:bodyPr wrap="square" lIns="27432" tIns="18288" rIns="27432" bIns="18288">
            <a:noAutofit/>
          </a:bodyPr>
          <a:lstStyle/>
          <a:p>
            <a:pPr algn="ctr">
              <a:defRPr sz="1250" b="1">
                <a:solidFill>
                  <a:srgbClr val="5B677C"/>
                </a:solidFill>
                <a:latin typeface="Aptos"/>
              </a:defRPr>
            </a:pPr>
            <a:r>
              <a:rPr sz="1600" dirty="0" err="1">
                <a:latin typeface="Aptos"/>
              </a:rPr>
              <a:t>Thiết</a:t>
            </a:r>
            <a:r>
              <a:rPr sz="1600" dirty="0">
                <a:latin typeface="Aptos"/>
              </a:rPr>
              <a:t> </a:t>
            </a:r>
            <a:r>
              <a:rPr sz="1600" dirty="0" err="1">
                <a:latin typeface="Aptos"/>
              </a:rPr>
              <a:t>kế</a:t>
            </a:r>
            <a:r>
              <a:rPr sz="1600" dirty="0">
                <a:latin typeface="Aptos"/>
              </a:rPr>
              <a:t> </a:t>
            </a:r>
            <a:r>
              <a:rPr sz="1600" dirty="0" err="1">
                <a:latin typeface="Aptos"/>
              </a:rPr>
              <a:t>hệ</a:t>
            </a:r>
            <a:r>
              <a:rPr sz="1600" dirty="0">
                <a:latin typeface="Aptos"/>
              </a:rPr>
              <a:t> </a:t>
            </a:r>
            <a:r>
              <a:rPr sz="1600" dirty="0" err="1">
                <a:latin typeface="Aptos"/>
              </a:rPr>
              <a:t>thống</a:t>
            </a:r>
            <a:endParaRPr sz="1600" dirty="0">
              <a:latin typeface="Aptos"/>
            </a:endParaRPr>
          </a:p>
          <a:p>
            <a:pPr algn="ctr">
              <a:defRPr sz="1250">
                <a:latin typeface="Aptos"/>
              </a:defRPr>
            </a:pPr>
            <a:r>
              <a:rPr sz="1600" dirty="0">
                <a:latin typeface="Aptos"/>
              </a:rPr>
              <a:t>UI </a:t>
            </a:r>
            <a:r>
              <a:rPr sz="1600" dirty="0" err="1">
                <a:latin typeface="Aptos"/>
              </a:rPr>
              <a:t>điều</a:t>
            </a:r>
            <a:r>
              <a:rPr sz="1600" dirty="0">
                <a:latin typeface="Aptos"/>
              </a:rPr>
              <a:t> </a:t>
            </a:r>
            <a:r>
              <a:rPr sz="1600" dirty="0" err="1">
                <a:latin typeface="Aptos"/>
              </a:rPr>
              <a:t>khiển</a:t>
            </a:r>
            <a:r>
              <a:rPr sz="1600" dirty="0">
                <a:latin typeface="Aptos"/>
              </a:rPr>
              <a:t>, model inference </a:t>
            </a:r>
            <a:r>
              <a:rPr sz="1600" dirty="0" err="1">
                <a:latin typeface="Aptos"/>
              </a:rPr>
              <a:t>và</a:t>
            </a:r>
            <a:r>
              <a:rPr sz="1600" dirty="0">
                <a:latin typeface="Aptos"/>
              </a:rPr>
              <a:t> analytics/logging </a:t>
            </a:r>
            <a:r>
              <a:rPr sz="1600" dirty="0" err="1">
                <a:latin typeface="Aptos"/>
              </a:rPr>
              <a:t>được</a:t>
            </a:r>
            <a:r>
              <a:rPr sz="1600" dirty="0">
                <a:latin typeface="Aptos"/>
              </a:rPr>
              <a:t> </a:t>
            </a:r>
            <a:r>
              <a:rPr sz="1600" dirty="0" err="1">
                <a:latin typeface="Aptos"/>
              </a:rPr>
              <a:t>tách</a:t>
            </a:r>
            <a:r>
              <a:rPr sz="1600" dirty="0">
                <a:latin typeface="Aptos"/>
              </a:rPr>
              <a:t> </a:t>
            </a:r>
            <a:r>
              <a:rPr sz="1600" dirty="0" err="1">
                <a:latin typeface="Aptos"/>
              </a:rPr>
              <a:t>riêng</a:t>
            </a:r>
            <a:r>
              <a:rPr sz="1600" dirty="0">
                <a:latin typeface="Aptos"/>
              </a:rPr>
              <a:t> </a:t>
            </a:r>
            <a:r>
              <a:rPr sz="1600" dirty="0" err="1">
                <a:latin typeface="Aptos"/>
              </a:rPr>
              <a:t>để</a:t>
            </a:r>
            <a:r>
              <a:rPr sz="1600" dirty="0">
                <a:latin typeface="Aptos"/>
              </a:rPr>
              <a:t> </a:t>
            </a:r>
            <a:r>
              <a:rPr sz="1600" dirty="0" err="1">
                <a:latin typeface="Aptos"/>
              </a:rPr>
              <a:t>dễ</a:t>
            </a:r>
            <a:r>
              <a:rPr sz="1600" dirty="0">
                <a:latin typeface="Aptos"/>
              </a:rPr>
              <a:t> </a:t>
            </a:r>
            <a:r>
              <a:rPr sz="1600" dirty="0" err="1">
                <a:latin typeface="Aptos"/>
              </a:rPr>
              <a:t>thay</a:t>
            </a:r>
            <a:r>
              <a:rPr sz="1600" dirty="0">
                <a:latin typeface="Aptos"/>
              </a:rPr>
              <a:t> model </a:t>
            </a:r>
            <a:r>
              <a:rPr sz="1600" dirty="0" err="1">
                <a:latin typeface="Aptos"/>
              </a:rPr>
              <a:t>hoặc</a:t>
            </a:r>
            <a:r>
              <a:rPr sz="1600" dirty="0">
                <a:latin typeface="Aptos"/>
              </a:rPr>
              <a:t> </a:t>
            </a:r>
            <a:r>
              <a:rPr sz="1600" dirty="0" err="1">
                <a:latin typeface="Aptos"/>
              </a:rPr>
              <a:t>mở</a:t>
            </a:r>
            <a:r>
              <a:rPr sz="1600" dirty="0">
                <a:latin typeface="Aptos"/>
              </a:rPr>
              <a:t> </a:t>
            </a:r>
            <a:r>
              <a:rPr sz="1600" dirty="0" err="1">
                <a:latin typeface="Aptos"/>
              </a:rPr>
              <a:t>rộng</a:t>
            </a:r>
            <a:r>
              <a:rPr sz="1600" dirty="0">
                <a:latin typeface="Aptos"/>
              </a:rPr>
              <a:t> </a:t>
            </a:r>
            <a:r>
              <a:rPr sz="1600" dirty="0" err="1">
                <a:latin typeface="Aptos"/>
              </a:rPr>
              <a:t>thuật</a:t>
            </a:r>
            <a:r>
              <a:rPr sz="1600" dirty="0">
                <a:latin typeface="Aptos"/>
              </a:rPr>
              <a:t> </a:t>
            </a:r>
            <a:r>
              <a:rPr sz="1600" dirty="0" err="1">
                <a:latin typeface="Aptos"/>
              </a:rPr>
              <a:t>toán</a:t>
            </a:r>
            <a:r>
              <a:rPr sz="1600" dirty="0"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10896"/>
            <a:ext cx="10881360" cy="53035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>
              <a:defRPr sz="3000" b="1">
                <a:solidFill>
                  <a:srgbClr val="152038"/>
                </a:solidFill>
                <a:latin typeface="Aptos Display"/>
              </a:defRPr>
            </a:pPr>
            <a:r>
              <a:rPr>
                <a:latin typeface="Aptos"/>
              </a:rPr>
              <a:t>Giao diện demo realtime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68680"/>
            <a:ext cx="10241280" cy="310896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>
              <a:defRPr sz="1300" b="0">
                <a:solidFill>
                  <a:srgbClr val="5B677C"/>
                </a:solidFill>
                <a:latin typeface="Aptos"/>
              </a:defRPr>
            </a:pPr>
            <a:r>
              <a:rPr>
                <a:latin typeface="Aptos"/>
              </a:rPr>
              <a:t>Người dùng chọn video/model, bật thuật toán, sau đó xem stream hoặc export kết quả.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46520"/>
            <a:ext cx="859536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>
              <a:defRPr sz="850" b="0">
                <a:solidFill>
                  <a:srgbClr val="5B677C"/>
                </a:solidFill>
                <a:latin typeface="Aptos"/>
              </a:defRPr>
            </a:pPr>
            <a:r>
              <a:rPr>
                <a:latin typeface="Aptos"/>
              </a:rPr>
              <a:t>Project 2 · YOLOv8n-P2 · VisDrone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54864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r">
              <a:defRPr sz="850" b="0">
                <a:solidFill>
                  <a:srgbClr val="5B677C"/>
                </a:solidFill>
                <a:latin typeface="Aptos"/>
              </a:defRPr>
            </a:pPr>
            <a:r>
              <a:rPr>
                <a:latin typeface="Aptos"/>
              </a:rPr>
              <a:t>11</a:t>
            </a:r>
          </a:p>
        </p:txBody>
      </p:sp>
      <p:pic>
        <p:nvPicPr>
          <p:cNvPr id="6" name="Picture 5" descr="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717" y="1170432"/>
            <a:ext cx="1647574" cy="4553712"/>
          </a:xfrm>
          <a:prstGeom prst="rect">
            <a:avLst/>
          </a:prstGeom>
          <a:ln w="9525">
            <a:solidFill>
              <a:srgbClr val="DAE1EC"/>
            </a:solidFill>
          </a:ln>
        </p:spPr>
      </p:pic>
      <p:pic>
        <p:nvPicPr>
          <p:cNvPr id="7" name="Picture 6" descr="detect_cou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3451" y="1170432"/>
            <a:ext cx="8306338" cy="4553712"/>
          </a:xfrm>
          <a:prstGeom prst="rect">
            <a:avLst/>
          </a:prstGeom>
          <a:ln w="9525">
            <a:solidFill>
              <a:srgbClr val="DAE1EC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768096" y="5797296"/>
            <a:ext cx="196596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ctr">
              <a:defRPr sz="1050" b="1">
                <a:solidFill>
                  <a:srgbClr val="5B677C"/>
                </a:solidFill>
                <a:latin typeface="Aptos"/>
              </a:defRPr>
            </a:pPr>
            <a:r>
              <a:rPr>
                <a:latin typeface="Aptos"/>
              </a:rPr>
              <a:t>Panel điều khiển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5797296"/>
            <a:ext cx="800100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ctr">
              <a:defRPr sz="1050" b="1">
                <a:solidFill>
                  <a:srgbClr val="5B677C"/>
                </a:solidFill>
                <a:latin typeface="Aptos"/>
              </a:defRPr>
            </a:pPr>
            <a:r>
              <a:rPr>
                <a:latin typeface="Aptos"/>
              </a:rPr>
              <a:t>Frame sau khi bật detection/counting/tracking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10896"/>
            <a:ext cx="10881360" cy="53035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>
              <a:defRPr sz="3000" b="1">
                <a:solidFill>
                  <a:srgbClr val="152038"/>
                </a:solidFill>
                <a:latin typeface="Aptos Display"/>
              </a:defRPr>
            </a:pPr>
            <a:r>
              <a:rPr>
                <a:latin typeface="Aptos"/>
              </a:rPr>
              <a:t>Các thuật toán triển khai thêm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68680"/>
            <a:ext cx="10241280" cy="310896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>
              <a:defRPr sz="1300" b="0">
                <a:solidFill>
                  <a:srgbClr val="5B677C"/>
                </a:solidFill>
                <a:latin typeface="Aptos"/>
              </a:defRPr>
            </a:pPr>
            <a:r>
              <a:rPr>
                <a:latin typeface="Aptos"/>
              </a:rPr>
              <a:t>Không chỉ gọi YOLO: repo bổ sung các lớp phân tích phục vụ demo giao thông.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46520"/>
            <a:ext cx="859536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>
              <a:defRPr sz="850" b="0">
                <a:solidFill>
                  <a:srgbClr val="5B677C"/>
                </a:solidFill>
                <a:latin typeface="Aptos"/>
              </a:defRPr>
            </a:pPr>
            <a:r>
              <a:rPr>
                <a:latin typeface="Aptos"/>
              </a:rPr>
              <a:t>Project 2 · YOLOv8n-P2 · VisDrone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54864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r">
              <a:defRPr sz="850" b="0">
                <a:solidFill>
                  <a:srgbClr val="5B677C"/>
                </a:solidFill>
                <a:latin typeface="Aptos"/>
              </a:defRPr>
            </a:pPr>
            <a:r>
              <a:rPr>
                <a:latin typeface="Aptos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256032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234440"/>
            <a:ext cx="73152" cy="1417320"/>
          </a:xfrm>
          <a:prstGeom prst="rect">
            <a:avLst/>
          </a:prstGeom>
          <a:solidFill>
            <a:srgbClr val="2D6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344168"/>
            <a:ext cx="2231136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52038"/>
                </a:solidFill>
                <a:latin typeface="Aptos"/>
              </a:defRPr>
            </a:pPr>
            <a:r>
              <a:rPr>
                <a:latin typeface="Aptos"/>
              </a:rPr>
              <a:t>Traffic density</a:t>
            </a:r>
          </a:p>
          <a:p>
            <a:pPr>
              <a:spcBef>
                <a:spcPts val="400"/>
              </a:spcBef>
              <a:defRPr sz="1150">
                <a:solidFill>
                  <a:srgbClr val="5B677C"/>
                </a:solidFill>
                <a:latin typeface="Aptos"/>
              </a:defRPr>
            </a:pPr>
            <a:r>
              <a:rPr>
                <a:latin typeface="Aptos"/>
              </a:rPr>
              <a:t>Người dùng vẽ polygon ROI; đếm object có tâm nằm trong vùng và phân loại Low/Medium/High.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93008" y="1234440"/>
            <a:ext cx="256032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493008" y="1234440"/>
            <a:ext cx="73152" cy="1417320"/>
          </a:xfrm>
          <a:prstGeom prst="rect">
            <a:avLst/>
          </a:prstGeom>
          <a:solidFill>
            <a:srgbClr val="11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94176" y="1344168"/>
            <a:ext cx="2231136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52038"/>
                </a:solidFill>
                <a:latin typeface="Aptos"/>
              </a:defRPr>
            </a:pPr>
            <a:r>
              <a:rPr>
                <a:latin typeface="Aptos"/>
              </a:rPr>
              <a:t>Vehicle counting</a:t>
            </a:r>
          </a:p>
          <a:p>
            <a:pPr>
              <a:spcBef>
                <a:spcPts val="400"/>
              </a:spcBef>
              <a:defRPr sz="1150">
                <a:solidFill>
                  <a:srgbClr val="5B677C"/>
                </a:solidFill>
                <a:latin typeface="Aptos"/>
              </a:defRPr>
            </a:pPr>
            <a:r>
              <a:rPr>
                <a:latin typeface="Aptos"/>
              </a:rPr>
              <a:t>Dùng line crossing: tâm object đổi phía và đoạn chuyển động cắt counting line thì tăng bộ đếm.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91072" y="1234440"/>
            <a:ext cx="256032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91072" y="1234440"/>
            <a:ext cx="73152" cy="1417320"/>
          </a:xfrm>
          <a:prstGeom prst="rect">
            <a:avLst/>
          </a:prstGeom>
          <a:solidFill>
            <a:srgbClr val="6F4E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92240" y="1344168"/>
            <a:ext cx="2231136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52038"/>
                </a:solidFill>
                <a:latin typeface="Aptos"/>
              </a:defRPr>
            </a:pPr>
            <a:r>
              <a:rPr>
                <a:latin typeface="Aptos"/>
              </a:rPr>
              <a:t>Tracking</a:t>
            </a:r>
          </a:p>
          <a:p>
            <a:pPr>
              <a:spcBef>
                <a:spcPts val="400"/>
              </a:spcBef>
              <a:defRPr sz="1150">
                <a:solidFill>
                  <a:srgbClr val="5B677C"/>
                </a:solidFill>
                <a:latin typeface="Aptos"/>
              </a:defRPr>
            </a:pPr>
            <a:r>
              <a:rPr>
                <a:latin typeface="Aptos"/>
              </a:rPr>
              <a:t>Bật ByteTrack qua model.track(..., persist=True) để có track_id và motion trail.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98280" y="1234440"/>
            <a:ext cx="256032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9098280" y="1234440"/>
            <a:ext cx="73152" cy="1417320"/>
          </a:xfrm>
          <a:prstGeom prst="rect">
            <a:avLst/>
          </a:prstGeom>
          <a:solidFill>
            <a:srgbClr val="418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299448" y="1344168"/>
            <a:ext cx="2231136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52038"/>
                </a:solidFill>
                <a:latin typeface="Aptos"/>
              </a:defRPr>
            </a:pPr>
            <a:r>
              <a:rPr>
                <a:latin typeface="Aptos"/>
              </a:rPr>
              <a:t>Logging/export</a:t>
            </a:r>
          </a:p>
          <a:p>
            <a:pPr>
              <a:spcBef>
                <a:spcPts val="400"/>
              </a:spcBef>
              <a:defRPr sz="1150">
                <a:solidFill>
                  <a:srgbClr val="5B677C"/>
                </a:solidFill>
                <a:latin typeface="Aptos"/>
              </a:defRPr>
            </a:pPr>
            <a:r>
              <a:rPr>
                <a:latin typeface="Aptos"/>
              </a:rPr>
              <a:t>Ghi CSV theo frame/detection; export annotated.mp4, summary.json, sample.jpg cho báo cáo.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090672"/>
            <a:ext cx="2743200" cy="29260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>
              <a:defRPr sz="1500" b="1">
                <a:solidFill>
                  <a:srgbClr val="152038"/>
                </a:solidFill>
                <a:latin typeface="Aptos"/>
              </a:defRPr>
            </a:pPr>
            <a:r>
              <a:rPr>
                <a:latin typeface="Aptos"/>
              </a:rPr>
              <a:t>Counting 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511296"/>
            <a:ext cx="5074920" cy="80467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>
              <a:defRPr sz="1400" b="0">
                <a:solidFill>
                  <a:srgbClr val="141B28"/>
                </a:solidFill>
                <a:latin typeface="Aptos"/>
              </a:defRPr>
            </a:pPr>
            <a:r>
              <a:rPr>
                <a:latin typeface="Aptos"/>
              </a:rPr>
              <a:t>s(p) = (x - ax)(by - ay) - (y - ay)(bx - ax)</a:t>
            </a:r>
            <a:br/>
            <a:r>
              <a:rPr>
                <a:latin typeface="Aptos"/>
              </a:rPr>
              <a:t>Nếu s(p_t-1) và s(p_t) khác dấu + segment intersect → count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090672"/>
            <a:ext cx="2743200" cy="29260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>
              <a:defRPr sz="1500" b="1">
                <a:solidFill>
                  <a:srgbClr val="152038"/>
                </a:solidFill>
                <a:latin typeface="Aptos"/>
              </a:defRPr>
            </a:pPr>
            <a:r>
              <a:rPr>
                <a:latin typeface="Aptos"/>
              </a:rPr>
              <a:t>Tracking trong demo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3511296"/>
            <a:ext cx="48006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141B28"/>
                </a:solidFill>
                <a:latin typeface="Aptos"/>
              </a:defRPr>
            </a:pPr>
            <a:r>
              <a:rPr>
                <a:latin typeface="Aptos"/>
              </a:rPr>
              <a:t>• Có ID để tránh đếm trùng một xe qua nhiều frame.</a:t>
            </a:r>
          </a:p>
          <a:p>
            <a:pPr>
              <a:spcAft>
                <a:spcPts val="300"/>
              </a:spcAft>
              <a:defRPr sz="1300">
                <a:solidFill>
                  <a:srgbClr val="141B28"/>
                </a:solidFill>
                <a:latin typeface="Aptos"/>
              </a:defRPr>
            </a:pPr>
            <a:r>
              <a:rPr>
                <a:latin typeface="Aptos"/>
              </a:rPr>
              <a:t>• Motion trail giúp nhìn hướng di chuyển trực quan.</a:t>
            </a:r>
          </a:p>
          <a:p>
            <a:pPr>
              <a:spcAft>
                <a:spcPts val="300"/>
              </a:spcAft>
              <a:defRPr sz="1300">
                <a:solidFill>
                  <a:srgbClr val="141B28"/>
                </a:solidFill>
                <a:latin typeface="Aptos"/>
              </a:defRPr>
            </a:pPr>
            <a:r>
              <a:rPr>
                <a:latin typeface="Aptos"/>
              </a:rPr>
              <a:t>• Khi bật counting, tracking được bật như điều kiện nền.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5230368"/>
            <a:ext cx="1037844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68680" y="5230368"/>
            <a:ext cx="73152" cy="566928"/>
          </a:xfrm>
          <a:prstGeom prst="rect">
            <a:avLst/>
          </a:prstGeom>
          <a:solidFill>
            <a:srgbClr val="DE9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64692" y="5257801"/>
            <a:ext cx="10049256" cy="420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152038"/>
                </a:solidFill>
                <a:latin typeface="Aptos"/>
              </a:defRPr>
            </a:pPr>
            <a:r>
              <a:rPr dirty="0" err="1">
                <a:latin typeface="Aptos"/>
              </a:rPr>
              <a:t>Kết</a:t>
            </a:r>
            <a:r>
              <a:rPr dirty="0">
                <a:latin typeface="Aptos"/>
              </a:rPr>
              <a:t> </a:t>
            </a:r>
            <a:r>
              <a:rPr dirty="0" err="1">
                <a:latin typeface="Aptos"/>
              </a:rPr>
              <a:t>quả</a:t>
            </a:r>
            <a:r>
              <a:rPr dirty="0">
                <a:latin typeface="Aptos"/>
              </a:rPr>
              <a:t> </a:t>
            </a:r>
            <a:r>
              <a:rPr dirty="0" err="1">
                <a:latin typeface="Aptos"/>
              </a:rPr>
              <a:t>triển</a:t>
            </a:r>
            <a:r>
              <a:rPr dirty="0">
                <a:latin typeface="Aptos"/>
              </a:rPr>
              <a:t> </a:t>
            </a:r>
            <a:r>
              <a:rPr dirty="0" err="1">
                <a:latin typeface="Aptos"/>
              </a:rPr>
              <a:t>khai</a:t>
            </a:r>
            <a:endParaRPr dirty="0">
              <a:latin typeface="Aptos"/>
            </a:endParaRPr>
          </a:p>
          <a:p>
            <a:pPr>
              <a:defRPr sz="1250">
                <a:latin typeface="Aptos"/>
              </a:defRPr>
            </a:pPr>
            <a:r>
              <a:rPr dirty="0">
                <a:latin typeface="Aptos"/>
              </a:rPr>
              <a:t>Output detection </a:t>
            </a:r>
            <a:r>
              <a:rPr dirty="0" err="1">
                <a:latin typeface="Aptos"/>
              </a:rPr>
              <a:t>được</a:t>
            </a:r>
            <a:r>
              <a:rPr dirty="0">
                <a:latin typeface="Aptos"/>
              </a:rPr>
              <a:t> </a:t>
            </a:r>
            <a:r>
              <a:rPr dirty="0" err="1">
                <a:latin typeface="Aptos"/>
              </a:rPr>
              <a:t>chuyển</a:t>
            </a:r>
            <a:r>
              <a:rPr dirty="0">
                <a:latin typeface="Aptos"/>
              </a:rPr>
              <a:t> </a:t>
            </a:r>
            <a:r>
              <a:rPr dirty="0" err="1">
                <a:latin typeface="Aptos"/>
              </a:rPr>
              <a:t>thành</a:t>
            </a:r>
            <a:r>
              <a:rPr dirty="0">
                <a:latin typeface="Aptos"/>
              </a:rPr>
              <a:t> analytics </a:t>
            </a:r>
            <a:r>
              <a:rPr dirty="0" err="1">
                <a:latin typeface="Aptos"/>
              </a:rPr>
              <a:t>theo</a:t>
            </a:r>
            <a:r>
              <a:rPr dirty="0">
                <a:latin typeface="Aptos"/>
              </a:rPr>
              <a:t> </a:t>
            </a:r>
            <a:r>
              <a:rPr dirty="0" err="1">
                <a:latin typeface="Aptos"/>
              </a:rPr>
              <a:t>thời</a:t>
            </a:r>
            <a:r>
              <a:rPr dirty="0">
                <a:latin typeface="Aptos"/>
              </a:rPr>
              <a:t> </a:t>
            </a:r>
            <a:r>
              <a:rPr dirty="0" err="1">
                <a:latin typeface="Aptos"/>
              </a:rPr>
              <a:t>gian</a:t>
            </a:r>
            <a:r>
              <a:rPr dirty="0">
                <a:latin typeface="Aptos"/>
              </a:rPr>
              <a:t>: </a:t>
            </a:r>
            <a:r>
              <a:rPr dirty="0" err="1">
                <a:latin typeface="Aptos"/>
              </a:rPr>
              <a:t>quan</a:t>
            </a:r>
            <a:r>
              <a:rPr dirty="0">
                <a:latin typeface="Aptos"/>
              </a:rPr>
              <a:t> </a:t>
            </a:r>
            <a:r>
              <a:rPr dirty="0" err="1">
                <a:latin typeface="Aptos"/>
              </a:rPr>
              <a:t>sát</a:t>
            </a:r>
            <a:r>
              <a:rPr dirty="0">
                <a:latin typeface="Aptos"/>
              </a:rPr>
              <a:t>, </a:t>
            </a:r>
            <a:r>
              <a:rPr dirty="0" err="1">
                <a:latin typeface="Aptos"/>
              </a:rPr>
              <a:t>đếm</a:t>
            </a:r>
            <a:r>
              <a:rPr dirty="0">
                <a:latin typeface="Aptos"/>
              </a:rPr>
              <a:t>, </a:t>
            </a:r>
            <a:r>
              <a:rPr dirty="0" err="1">
                <a:latin typeface="Aptos"/>
              </a:rPr>
              <a:t>lưu</a:t>
            </a:r>
            <a:r>
              <a:rPr dirty="0">
                <a:latin typeface="Aptos"/>
              </a:rPr>
              <a:t> log </a:t>
            </a:r>
            <a:r>
              <a:rPr dirty="0" err="1">
                <a:latin typeface="Aptos"/>
              </a:rPr>
              <a:t>và</a:t>
            </a:r>
            <a:r>
              <a:rPr dirty="0">
                <a:latin typeface="Aptos"/>
              </a:rPr>
              <a:t> export </a:t>
            </a:r>
            <a:r>
              <a:rPr dirty="0" err="1">
                <a:latin typeface="Aptos"/>
              </a:rPr>
              <a:t>lại</a:t>
            </a:r>
            <a:r>
              <a:rPr dirty="0">
                <a:latin typeface="Aptos"/>
              </a:rPr>
              <a:t> </a:t>
            </a:r>
            <a:r>
              <a:rPr dirty="0" err="1">
                <a:latin typeface="Aptos"/>
              </a:rPr>
              <a:t>kết</a:t>
            </a:r>
            <a:r>
              <a:rPr dirty="0">
                <a:latin typeface="Aptos"/>
              </a:rPr>
              <a:t> </a:t>
            </a:r>
            <a:r>
              <a:rPr dirty="0" err="1">
                <a:latin typeface="Aptos"/>
              </a:rPr>
              <a:t>quả</a:t>
            </a:r>
            <a:r>
              <a:rPr dirty="0"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10896"/>
            <a:ext cx="10881360" cy="53035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>
              <a:defRPr sz="3000" b="1">
                <a:solidFill>
                  <a:srgbClr val="152038"/>
                </a:solidFill>
                <a:latin typeface="Aptos"/>
              </a:defRPr>
            </a:pPr>
            <a:r>
              <a:rPr>
                <a:latin typeface="Aptos"/>
              </a:rPr>
              <a:t>Demo 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68680"/>
            <a:ext cx="10241280" cy="310896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>
              <a:defRPr sz="1300" b="0">
                <a:solidFill>
                  <a:srgbClr val="5B677C"/>
                </a:solidFill>
                <a:latin typeface="Aptos"/>
              </a:defRPr>
            </a:pPr>
            <a:r>
              <a:rPr>
                <a:latin typeface="Aptos"/>
              </a:rPr>
              <a:t>Quy trình thao tác chính khi trình diễn ứng dụng realtime.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46520"/>
            <a:ext cx="859536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>
              <a:defRPr sz="850" b="0">
                <a:solidFill>
                  <a:srgbClr val="5B677C"/>
                </a:solidFill>
                <a:latin typeface="Aptos"/>
              </a:defRPr>
            </a:pPr>
            <a:r>
              <a:rPr>
                <a:latin typeface="Aptos"/>
              </a:rPr>
              <a:t>Project 2 · YOLOv8n-P2 · VisDrone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54864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r">
              <a:defRPr sz="850" b="0">
                <a:solidFill>
                  <a:srgbClr val="5B677C"/>
                </a:solidFill>
                <a:latin typeface="Aptos"/>
              </a:defRPr>
            </a:pPr>
            <a:r>
              <a:rPr>
                <a:latin typeface="Aptos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188720"/>
            <a:ext cx="5074920" cy="11155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188720"/>
            <a:ext cx="73152" cy="1115568"/>
          </a:xfrm>
          <a:prstGeom prst="rect">
            <a:avLst/>
          </a:prstGeom>
          <a:solidFill>
            <a:srgbClr val="2D6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298448"/>
            <a:ext cx="4745736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52038"/>
                </a:solidFill>
                <a:latin typeface="Aptos"/>
              </a:defRPr>
            </a:pPr>
            <a:r>
              <a:rPr>
                <a:latin typeface="Aptos"/>
              </a:rPr>
              <a:t>1. Mở app</a:t>
            </a:r>
          </a:p>
          <a:p>
            <a:pPr>
              <a:spcBef>
                <a:spcPts val="400"/>
              </a:spcBef>
              <a:defRPr sz="1120">
                <a:solidFill>
                  <a:srgbClr val="5B677C"/>
                </a:solidFill>
                <a:latin typeface="Aptos"/>
              </a:defRPr>
            </a:pPr>
            <a:r>
              <a:rPr>
                <a:latin typeface="Aptos"/>
              </a:rPr>
              <a:t>Chạy app/realtime_front.py, mở trình duyệt local, nói nhanh checkpoint đã đặt trong models/VisDrone.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88720"/>
            <a:ext cx="5074920" cy="11155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1188720"/>
            <a:ext cx="73152" cy="1115568"/>
          </a:xfrm>
          <a:prstGeom prst="rect">
            <a:avLst/>
          </a:prstGeom>
          <a:solidFill>
            <a:srgbClr val="11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19088" y="1298448"/>
            <a:ext cx="4745736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52038"/>
                </a:solidFill>
                <a:latin typeface="Aptos"/>
              </a:defRPr>
            </a:pPr>
            <a:r>
              <a:rPr>
                <a:latin typeface="Aptos"/>
              </a:rPr>
              <a:t>2. Load video</a:t>
            </a:r>
          </a:p>
          <a:p>
            <a:pPr>
              <a:spcBef>
                <a:spcPts val="400"/>
              </a:spcBef>
              <a:defRPr sz="1120">
                <a:solidFill>
                  <a:srgbClr val="5B677C"/>
                </a:solidFill>
                <a:latin typeface="Aptos"/>
              </a:defRPr>
            </a:pPr>
            <a:r>
              <a:rPr>
                <a:latin typeface="Aptos"/>
              </a:rPr>
              <a:t>Chọn một video UAV rõ vật thể nhỏ; load frame đầu để kiểm tra khung hình.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697480"/>
            <a:ext cx="5074920" cy="11155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5800" y="2697480"/>
            <a:ext cx="73152" cy="1115568"/>
          </a:xfrm>
          <a:prstGeom prst="rect">
            <a:avLst/>
          </a:prstGeom>
          <a:solidFill>
            <a:srgbClr val="6F4E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6968" y="2807208"/>
            <a:ext cx="4745736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52038"/>
                </a:solidFill>
                <a:latin typeface="Aptos"/>
              </a:defRPr>
            </a:pPr>
            <a:r>
              <a:rPr>
                <a:latin typeface="Aptos"/>
              </a:rPr>
              <a:t>3. Chọn model</a:t>
            </a:r>
          </a:p>
          <a:p>
            <a:pPr>
              <a:spcBef>
                <a:spcPts val="400"/>
              </a:spcBef>
              <a:defRPr sz="1120">
                <a:solidFill>
                  <a:srgbClr val="5B677C"/>
                </a:solidFill>
                <a:latin typeface="Aptos"/>
              </a:defRPr>
            </a:pPr>
            <a:r>
              <a:rPr>
                <a:latin typeface="Aptos"/>
              </a:rPr>
              <a:t>Chọn yolov8n-p2 làm model chính; nếu cần, đổi sang yolov8n/yolov8s để đối chiếu.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697480"/>
            <a:ext cx="5074920" cy="11155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17920" y="2697480"/>
            <a:ext cx="73152" cy="1115568"/>
          </a:xfrm>
          <a:prstGeom prst="rect">
            <a:avLst/>
          </a:prstGeom>
          <a:solidFill>
            <a:srgbClr val="DE9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19088" y="2807208"/>
            <a:ext cx="4745736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52038"/>
                </a:solidFill>
                <a:latin typeface="Aptos"/>
              </a:defRPr>
            </a:pPr>
            <a:r>
              <a:rPr>
                <a:latin typeface="Aptos"/>
              </a:rPr>
              <a:t>4. Bật thuật toán</a:t>
            </a:r>
          </a:p>
          <a:p>
            <a:pPr>
              <a:spcBef>
                <a:spcPts val="400"/>
              </a:spcBef>
              <a:defRPr sz="1120">
                <a:solidFill>
                  <a:srgbClr val="5B677C"/>
                </a:solidFill>
                <a:latin typeface="Aptos"/>
              </a:defRPr>
            </a:pPr>
            <a:r>
              <a:rPr>
                <a:latin typeface="Aptos"/>
              </a:rPr>
              <a:t>Bật tracking; vẽ counting line; nếu video phù hợp thì vẽ density zone.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206240"/>
            <a:ext cx="5074920" cy="11155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85800" y="4206240"/>
            <a:ext cx="73152" cy="1115568"/>
          </a:xfrm>
          <a:prstGeom prst="rect">
            <a:avLst/>
          </a:prstGeom>
          <a:solidFill>
            <a:srgbClr val="418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86968" y="4315968"/>
            <a:ext cx="4745736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52038"/>
                </a:solidFill>
                <a:latin typeface="Aptos"/>
              </a:defRPr>
            </a:pPr>
            <a:r>
              <a:rPr>
                <a:latin typeface="Aptos"/>
              </a:rPr>
              <a:t>5. Start stream</a:t>
            </a:r>
          </a:p>
          <a:p>
            <a:pPr>
              <a:spcBef>
                <a:spcPts val="400"/>
              </a:spcBef>
              <a:defRPr sz="1120">
                <a:solidFill>
                  <a:srgbClr val="5B677C"/>
                </a:solidFill>
                <a:latin typeface="Aptos"/>
              </a:defRPr>
            </a:pPr>
            <a:r>
              <a:rPr>
                <a:latin typeface="Aptos"/>
              </a:rPr>
              <a:t>Cho thầy xem box, class, confidence, track id, count và overlay realtime.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206240"/>
            <a:ext cx="5074920" cy="11155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17920" y="4206240"/>
            <a:ext cx="73152" cy="1115568"/>
          </a:xfrm>
          <a:prstGeom prst="rect">
            <a:avLst/>
          </a:prstGeom>
          <a:solidFill>
            <a:srgbClr val="BA3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19088" y="4315968"/>
            <a:ext cx="4745736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52038"/>
                </a:solidFill>
                <a:latin typeface="Aptos"/>
              </a:defRPr>
            </a:pPr>
            <a:r>
              <a:rPr>
                <a:latin typeface="Aptos"/>
              </a:rPr>
              <a:t>6. Export/log</a:t>
            </a:r>
          </a:p>
          <a:p>
            <a:pPr>
              <a:spcBef>
                <a:spcPts val="400"/>
              </a:spcBef>
              <a:defRPr sz="1120">
                <a:solidFill>
                  <a:srgbClr val="5B677C"/>
                </a:solidFill>
                <a:latin typeface="Aptos"/>
              </a:defRPr>
            </a:pPr>
            <a:r>
              <a:rPr>
                <a:latin typeface="Aptos"/>
              </a:rPr>
              <a:t>Bật CSV log hoặc chạy batch export để sinh annotated.mp4, detections.csv, summary.json, sample.jpg.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815584"/>
            <a:ext cx="1060704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ctr">
              <a:defRPr sz="1250" b="1">
                <a:solidFill>
                  <a:srgbClr val="152038"/>
                </a:solidFill>
                <a:latin typeface="Aptos"/>
              </a:defRPr>
            </a:pPr>
            <a:r>
              <a:rPr>
                <a:latin typeface="Aptos"/>
              </a:rPr>
              <a:t>Đầu ra sau demo: stream đã annotate, số lượng phương tiện, log CSV và batch export phục vụ kiểm chứng lại kết quả.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10896"/>
            <a:ext cx="10881360" cy="53035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>
              <a:defRPr sz="3000" b="1">
                <a:solidFill>
                  <a:srgbClr val="152038"/>
                </a:solidFill>
                <a:latin typeface="Aptos Display"/>
              </a:defRPr>
            </a:pPr>
            <a:r>
              <a:rPr>
                <a:latin typeface="Aptos"/>
              </a:rPr>
              <a:t>Demo trên video thật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68680"/>
            <a:ext cx="10241280" cy="310896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>
              <a:defRPr sz="1300" b="0">
                <a:solidFill>
                  <a:srgbClr val="5B677C"/>
                </a:solidFill>
                <a:latin typeface="Aptos"/>
              </a:defRPr>
            </a:pPr>
            <a:r>
              <a:rPr>
                <a:latin typeface="Aptos"/>
              </a:rPr>
              <a:t>Các frame mẫu đã export từ outputs/detection bằng YOLOv8n-P2.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46520"/>
            <a:ext cx="859536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>
              <a:defRPr sz="850" b="0">
                <a:solidFill>
                  <a:srgbClr val="5B677C"/>
                </a:solidFill>
                <a:latin typeface="Aptos"/>
              </a:defRPr>
            </a:pPr>
            <a:r>
              <a:rPr>
                <a:latin typeface="Aptos"/>
              </a:rPr>
              <a:t>Project 2 · YOLOv8n-P2 · VisDrone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54864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r">
              <a:defRPr sz="850" b="0">
                <a:solidFill>
                  <a:srgbClr val="5B677C"/>
                </a:solidFill>
                <a:latin typeface="Aptos"/>
              </a:defRPr>
            </a:pPr>
            <a:r>
              <a:rPr>
                <a:latin typeface="Aptos"/>
              </a:rPr>
              <a:t>14</a:t>
            </a:r>
          </a:p>
        </p:txBody>
      </p:sp>
      <p:pic>
        <p:nvPicPr>
          <p:cNvPr id="6" name="Picture 5" descr="app_demo_video_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3572" y="1097280"/>
            <a:ext cx="2210816" cy="1243584"/>
          </a:xfrm>
          <a:prstGeom prst="rect">
            <a:avLst/>
          </a:prstGeom>
          <a:ln w="9525">
            <a:solidFill>
              <a:srgbClr val="DAE1EC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85800" y="2359152"/>
            <a:ext cx="516636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ctr">
              <a:defRPr sz="950" b="1">
                <a:solidFill>
                  <a:srgbClr val="5B677C"/>
                </a:solidFill>
                <a:latin typeface="Aptos"/>
              </a:defRPr>
            </a:pPr>
            <a:r>
              <a:rPr>
                <a:latin typeface="Aptos"/>
              </a:rPr>
              <a:t>video 02</a:t>
            </a:r>
          </a:p>
        </p:txBody>
      </p:sp>
      <p:pic>
        <p:nvPicPr>
          <p:cNvPr id="8" name="Picture 7" descr="app_demo_video_0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1412" y="1097280"/>
            <a:ext cx="2210816" cy="1243584"/>
          </a:xfrm>
          <a:prstGeom prst="rect">
            <a:avLst/>
          </a:prstGeom>
          <a:ln w="9525">
            <a:solidFill>
              <a:srgbClr val="DAE1EC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263640" y="2359152"/>
            <a:ext cx="516636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ctr">
              <a:defRPr sz="950" b="1">
                <a:solidFill>
                  <a:srgbClr val="5B677C"/>
                </a:solidFill>
                <a:latin typeface="Aptos"/>
              </a:defRPr>
            </a:pPr>
            <a:r>
              <a:rPr>
                <a:latin typeface="Aptos"/>
              </a:rPr>
              <a:t>video 04</a:t>
            </a:r>
          </a:p>
        </p:txBody>
      </p:sp>
      <p:pic>
        <p:nvPicPr>
          <p:cNvPr id="10" name="Picture 9" descr="app_demo_video_0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3572" y="2670048"/>
            <a:ext cx="2210816" cy="1243584"/>
          </a:xfrm>
          <a:prstGeom prst="rect">
            <a:avLst/>
          </a:prstGeom>
          <a:ln w="9525">
            <a:solidFill>
              <a:srgbClr val="DAE1EC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685800" y="3931920"/>
            <a:ext cx="516636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ctr">
              <a:defRPr sz="950" b="1">
                <a:solidFill>
                  <a:srgbClr val="5B677C"/>
                </a:solidFill>
                <a:latin typeface="Aptos"/>
              </a:defRPr>
            </a:pPr>
            <a:r>
              <a:rPr>
                <a:latin typeface="Aptos"/>
              </a:rPr>
              <a:t>video 05</a:t>
            </a:r>
          </a:p>
        </p:txBody>
      </p:sp>
      <p:pic>
        <p:nvPicPr>
          <p:cNvPr id="12" name="Picture 11" descr="app_demo_video_07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1412" y="2670048"/>
            <a:ext cx="2210816" cy="1243584"/>
          </a:xfrm>
          <a:prstGeom prst="rect">
            <a:avLst/>
          </a:prstGeom>
          <a:ln w="9525">
            <a:solidFill>
              <a:srgbClr val="DAE1EC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6263640" y="3931920"/>
            <a:ext cx="516636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ctr">
              <a:defRPr sz="950" b="1">
                <a:solidFill>
                  <a:srgbClr val="5B677C"/>
                </a:solidFill>
                <a:latin typeface="Aptos"/>
              </a:defRPr>
            </a:pPr>
            <a:r>
              <a:rPr>
                <a:latin typeface="Aptos"/>
              </a:rPr>
              <a:t>video 07</a:t>
            </a:r>
          </a:p>
        </p:txBody>
      </p:sp>
      <p:pic>
        <p:nvPicPr>
          <p:cNvPr id="14" name="Picture 13" descr="app_demo_video_12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63572" y="4242816"/>
            <a:ext cx="2210816" cy="1243584"/>
          </a:xfrm>
          <a:prstGeom prst="rect">
            <a:avLst/>
          </a:prstGeom>
          <a:ln w="9525">
            <a:solidFill>
              <a:srgbClr val="DAE1EC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685800" y="5504688"/>
            <a:ext cx="516636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ctr">
              <a:defRPr sz="950" b="1">
                <a:solidFill>
                  <a:srgbClr val="5B677C"/>
                </a:solidFill>
                <a:latin typeface="Aptos"/>
              </a:defRPr>
            </a:pPr>
            <a:r>
              <a:rPr>
                <a:latin typeface="Aptos"/>
              </a:rPr>
              <a:t>video 12</a:t>
            </a:r>
          </a:p>
        </p:txBody>
      </p:sp>
      <p:pic>
        <p:nvPicPr>
          <p:cNvPr id="16" name="Picture 15" descr="app_demo_video_1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41412" y="4242816"/>
            <a:ext cx="2210816" cy="1243584"/>
          </a:xfrm>
          <a:prstGeom prst="rect">
            <a:avLst/>
          </a:prstGeom>
          <a:ln w="9525">
            <a:solidFill>
              <a:srgbClr val="DAE1EC"/>
            </a:solidFill>
          </a:ln>
        </p:spPr>
      </p:pic>
      <p:sp>
        <p:nvSpPr>
          <p:cNvPr id="17" name="TextBox 16"/>
          <p:cNvSpPr txBox="1"/>
          <p:nvPr/>
        </p:nvSpPr>
        <p:spPr>
          <a:xfrm>
            <a:off x="6263640" y="5504688"/>
            <a:ext cx="516636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ctr">
              <a:defRPr sz="950" b="1">
                <a:solidFill>
                  <a:srgbClr val="5B677C"/>
                </a:solidFill>
                <a:latin typeface="Aptos"/>
              </a:defRPr>
            </a:pPr>
            <a:r>
              <a:rPr>
                <a:latin typeface="Aptos"/>
              </a:rPr>
              <a:t>video 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5989320"/>
            <a:ext cx="1046988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ctr">
              <a:defRPr sz="1200" b="0">
                <a:solidFill>
                  <a:srgbClr val="5B677C"/>
                </a:solidFill>
                <a:latin typeface="Aptos"/>
              </a:defRPr>
            </a:pPr>
            <a:r>
              <a:rPr>
                <a:latin typeface="Aptos"/>
              </a:rPr>
              <a:t>Các frame minh họa nhiều bối cảnh UAV khác nhau: vật thể nhỏ, mật độ cao và nhiều lớp phương tiện xuất hiện đồng thời.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10896"/>
            <a:ext cx="10881360" cy="53035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>
              <a:defRPr sz="3000" b="1">
                <a:solidFill>
                  <a:srgbClr val="152038"/>
                </a:solidFill>
                <a:latin typeface="Aptos"/>
              </a:defRPr>
            </a:pPr>
            <a:r>
              <a:rPr>
                <a:latin typeface="Aptos"/>
              </a:rPr>
              <a:t>Kết luận và hướng phát triển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68680"/>
            <a:ext cx="10241280" cy="310896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>
              <a:defRPr sz="1300" b="0">
                <a:solidFill>
                  <a:srgbClr val="5B677C"/>
                </a:solidFill>
                <a:latin typeface="Aptos"/>
              </a:defRPr>
            </a:pPr>
            <a:r>
              <a:rPr>
                <a:latin typeface="Aptos"/>
              </a:rPr>
              <a:t>Tổng kết đóng góp chính, hạn chế và các hướng mở rộng sau Project 2.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46520"/>
            <a:ext cx="859536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>
              <a:defRPr sz="850" b="0">
                <a:solidFill>
                  <a:srgbClr val="5B677C"/>
                </a:solidFill>
                <a:latin typeface="Aptos"/>
              </a:defRPr>
            </a:pPr>
            <a:r>
              <a:rPr>
                <a:latin typeface="Aptos"/>
              </a:rPr>
              <a:t>Project 2 · YOLOv8n-P2 · VisDrone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54864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r">
              <a:defRPr sz="850" b="0">
                <a:solidFill>
                  <a:srgbClr val="5B677C"/>
                </a:solidFill>
                <a:latin typeface="Aptos"/>
              </a:defRPr>
            </a:pPr>
            <a:r>
              <a:rPr>
                <a:latin typeface="Aptos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329184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234440"/>
            <a:ext cx="73152" cy="1920240"/>
          </a:xfrm>
          <a:prstGeom prst="rect">
            <a:avLst/>
          </a:prstGeom>
          <a:solidFill>
            <a:srgbClr val="11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344168"/>
            <a:ext cx="2962656" cy="177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52038"/>
                </a:solidFill>
                <a:latin typeface="Aptos"/>
              </a:defRPr>
            </a:pPr>
            <a:r>
              <a:rPr>
                <a:latin typeface="Aptos"/>
              </a:rPr>
              <a:t>Kết luận 1</a:t>
            </a:r>
          </a:p>
          <a:p>
            <a:pPr>
              <a:spcBef>
                <a:spcPts val="400"/>
              </a:spcBef>
              <a:defRPr sz="1250">
                <a:solidFill>
                  <a:srgbClr val="5B677C"/>
                </a:solidFill>
                <a:latin typeface="Aptos"/>
              </a:defRPr>
            </a:pPr>
            <a:r>
              <a:rPr>
                <a:latin typeface="Aptos"/>
              </a:rPr>
              <a:t>YOLOv8n-P2 cải thiện recall, mAP50 và mAP50-95 so với YOLOv8n trên validation và test-dev.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234440"/>
            <a:ext cx="329184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34840" y="1234440"/>
            <a:ext cx="73152" cy="1920240"/>
          </a:xfrm>
          <a:prstGeom prst="rect">
            <a:avLst/>
          </a:prstGeom>
          <a:solidFill>
            <a:srgbClr val="DE9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36007" y="1344168"/>
            <a:ext cx="2962656" cy="177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52038"/>
                </a:solidFill>
                <a:latin typeface="Aptos"/>
              </a:defRPr>
            </a:pPr>
            <a:r>
              <a:rPr>
                <a:latin typeface="Aptos"/>
              </a:rPr>
              <a:t>Kết luận 2</a:t>
            </a:r>
          </a:p>
          <a:p>
            <a:pPr>
              <a:spcBef>
                <a:spcPts val="400"/>
              </a:spcBef>
              <a:defRPr sz="1250">
                <a:solidFill>
                  <a:srgbClr val="5B677C"/>
                </a:solidFill>
                <a:latin typeface="Aptos"/>
              </a:defRPr>
            </a:pPr>
            <a:r>
              <a:rPr>
                <a:latin typeface="Aptos"/>
              </a:rPr>
              <a:t>Chi phí tính toán tăng do thêm P2, nhưng mô hình vẫn nhẹ hơn nhiều so với YOLOv8s.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234440"/>
            <a:ext cx="329184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138160" y="1234440"/>
            <a:ext cx="73152" cy="1920240"/>
          </a:xfrm>
          <a:prstGeom prst="rect">
            <a:avLst/>
          </a:prstGeom>
          <a:solidFill>
            <a:srgbClr val="418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39328" y="1344168"/>
            <a:ext cx="2962656" cy="177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52038"/>
                </a:solidFill>
                <a:latin typeface="Aptos"/>
              </a:defRPr>
            </a:pPr>
            <a:r>
              <a:rPr>
                <a:latin typeface="Aptos"/>
              </a:rPr>
              <a:t>Kết luận 3</a:t>
            </a:r>
          </a:p>
          <a:p>
            <a:pPr>
              <a:spcBef>
                <a:spcPts val="400"/>
              </a:spcBef>
              <a:defRPr sz="1250">
                <a:solidFill>
                  <a:srgbClr val="5B677C"/>
                </a:solidFill>
                <a:latin typeface="Aptos"/>
              </a:defRPr>
            </a:pPr>
            <a:r>
              <a:rPr>
                <a:latin typeface="Aptos"/>
              </a:rPr>
              <a:t>Checkpoint đã được đưa vào app Flask có detection, tracking, density, counting, logging và export.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703320"/>
            <a:ext cx="365760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>
              <a:defRPr sz="1400" b="1">
                <a:solidFill>
                  <a:srgbClr val="152038"/>
                </a:solidFill>
                <a:latin typeface="Aptos"/>
              </a:defRPr>
            </a:pPr>
            <a:r>
              <a:rPr>
                <a:latin typeface="Aptos"/>
              </a:rPr>
              <a:t>Hạn chế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069080"/>
            <a:ext cx="35204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50">
                <a:solidFill>
                  <a:srgbClr val="141B28"/>
                </a:solidFill>
                <a:latin typeface="Aptos"/>
              </a:defRPr>
            </a:pPr>
            <a:r>
              <a:rPr>
                <a:latin typeface="Aptos"/>
              </a:rPr>
              <a:t>• Mới đánh giá chính trên VisDrone.</a:t>
            </a:r>
          </a:p>
          <a:p>
            <a:pPr>
              <a:defRPr>
                <a:latin typeface="Aptos"/>
              </a:defRPr>
            </a:pPr>
            <a:r>
              <a:rPr>
                <a:latin typeface="Aptos"/>
              </a:rPr>
              <a:t>• YOLOv8n-P2 tăng chi phí suy luận so với YOLOv8n.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3703320"/>
            <a:ext cx="365760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>
              <a:defRPr sz="1400" b="1">
                <a:solidFill>
                  <a:srgbClr val="152038"/>
                </a:solidFill>
                <a:latin typeface="Aptos"/>
              </a:defRPr>
            </a:pPr>
            <a:r>
              <a:rPr>
                <a:latin typeface="Aptos"/>
              </a:rPr>
              <a:t>Rủi ro triển khai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60" y="4069080"/>
            <a:ext cx="3291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50">
                <a:solidFill>
                  <a:srgbClr val="141B28"/>
                </a:solidFill>
                <a:latin typeface="Aptos"/>
              </a:defRPr>
            </a:pPr>
            <a:r>
              <a:rPr>
                <a:latin typeface="Aptos"/>
              </a:rPr>
              <a:t>• Counting phụ thuộc tracking.</a:t>
            </a:r>
          </a:p>
          <a:p>
            <a:pPr>
              <a:defRPr>
                <a:latin typeface="Aptos"/>
              </a:defRPr>
            </a:pPr>
            <a:r>
              <a:rPr>
                <a:latin typeface="Aptos"/>
              </a:rPr>
              <a:t>• Có thể sai khi mất track, che khuất lâu hoặc chuyển động phức tạp.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703320"/>
            <a:ext cx="365760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>
              <a:defRPr sz="1400" b="1">
                <a:solidFill>
                  <a:srgbClr val="152038"/>
                </a:solidFill>
                <a:latin typeface="Aptos"/>
              </a:defRPr>
            </a:pPr>
            <a:r>
              <a:rPr>
                <a:latin typeface="Aptos"/>
              </a:rPr>
              <a:t>Hướng phát triển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4069080"/>
            <a:ext cx="31546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50">
                <a:solidFill>
                  <a:srgbClr val="141B28"/>
                </a:solidFill>
                <a:latin typeface="Aptos"/>
              </a:defRPr>
            </a:pPr>
            <a:r>
              <a:rPr>
                <a:latin typeface="Aptos"/>
              </a:rPr>
              <a:t>• Thử thêm dataset UAV/traffic.</a:t>
            </a:r>
          </a:p>
          <a:p>
            <a:pPr>
              <a:defRPr>
                <a:latin typeface="Aptos"/>
              </a:defRPr>
            </a:pPr>
            <a:r>
              <a:rPr>
                <a:latin typeface="Aptos"/>
              </a:rPr>
              <a:t>• Tối ưu ONNX/TensorRT và mở rộng dashboard analytics.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383729"/>
            <a:ext cx="10332720" cy="301752"/>
          </a:xfrm>
          <a:prstGeom prst="rect">
            <a:avLst/>
          </a:prstGeom>
          <a:noFill/>
        </p:spPr>
        <p:txBody>
          <a:bodyPr wrap="square" lIns="73152" tIns="27432" rIns="73152" bIns="27432">
            <a:noAutofit/>
          </a:bodyPr>
          <a:lstStyle/>
          <a:p>
            <a:pPr algn="ctr">
              <a:defRPr sz="1300" b="1">
                <a:solidFill>
                  <a:srgbClr val="152038"/>
                </a:solidFill>
                <a:latin typeface="Aptos"/>
              </a:defRPr>
            </a:pPr>
            <a:r>
              <a:t>Tổng kết</a:t>
            </a:r>
            <a:endParaRPr dirty="0">
              <a:latin typeface="Aptos"/>
            </a:endParaRPr>
          </a:p>
          <a:p>
            <a:pPr algn="ctr">
              <a:spcBef>
                <a:spcPts val="200"/>
              </a:spcBef>
              <a:defRPr sz="1150">
                <a:solidFill>
                  <a:srgbClr val="5B677C"/>
                </a:solidFill>
                <a:latin typeface="Aptos"/>
              </a:defRPr>
            </a:pPr>
            <a:r>
              <a:t>Hoàn thành nghiên cứu YOLOv8n-P2, kiểm chứng thực nghiệm và triển khai demo chạy được.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2184</Words>
  <Application>Microsoft Office PowerPoint</Application>
  <PresentationFormat>Widescreen</PresentationFormat>
  <Paragraphs>270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Tran Tuan Minh 20230051</cp:lastModifiedBy>
  <cp:revision>3</cp:revision>
  <dcterms:created xsi:type="dcterms:W3CDTF">2013-01-27T09:14:16Z</dcterms:created>
  <dcterms:modified xsi:type="dcterms:W3CDTF">2026-06-24T11:32:40Z</dcterms:modified>
  <cp:category/>
</cp:coreProperties>
</file>